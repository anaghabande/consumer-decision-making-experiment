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8" r:id="rId6"/>
    <p:sldId id="259" r:id="rId7"/>
    <p:sldId id="265" r:id="rId13"/>
    <p:sldId id="260" r:id="rId8"/>
    <p:sldId id="266" r:id="rId14"/>
    <p:sldId id="269" r:id="rId17"/>
    <p:sldId id="275" r:id="rId24"/>
    <p:sldId id="262" r:id="rId10"/>
    <p:sldId id="263" r:id="rId11"/>
    <p:sldId id="264" r:id="rId12"/>
    <p:sldId id="267" r:id="rId15"/>
    <p:sldId id="274" r:id="rId23"/>
    <p:sldId id="270" r:id="rId18"/>
    <p:sldId id="290" r:id="rId90"/>
    <p:sldId id="273" r:id="rId21"/>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4.xml"/><Relationship Id="rId14" Type="http://schemas.openxmlformats.org/officeDocument/2006/relationships/slide" Target="slides/slide6.xml"/><Relationship Id="rId15" Type="http://schemas.openxmlformats.org/officeDocument/2006/relationships/slide" Target="slides/slide12.xml"/><Relationship Id="rId17" Type="http://schemas.openxmlformats.org/officeDocument/2006/relationships/slide" Target="slides/slide7.xml"/><Relationship Id="rId18" Type="http://schemas.openxmlformats.org/officeDocument/2006/relationships/slide" Target="slides/slide14.xml"/><Relationship Id="rId21" Type="http://schemas.openxmlformats.org/officeDocument/2006/relationships/slide" Target="slides/slide16.xml"/><Relationship Id="rId22" Type="http://schemas.openxmlformats.org/officeDocument/2006/relationships/presProps" Target="presProps.xml"/><Relationship Id="rId23" Type="http://schemas.openxmlformats.org/officeDocument/2006/relationships/slide" Target="slides/slide13.xml"/><Relationship Id="rId24" Type="http://schemas.openxmlformats.org/officeDocument/2006/relationships/slide" Target="slides/slide8.xml"/><Relationship Id="rId90"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1800" spc="-1" strike="noStrike">
                <a:solidFill>
                  <a:srgbClr val="000000"/>
                </a:solidFill>
                <a:latin typeface="Calibri"/>
              </a:defRPr>
            </a:pPr>
            <a:r>
              <a:rPr b="1" sz="1800" spc="-1" strike="noStrike">
                <a:solidFill>
                  <a:srgbClr val="000000"/>
                </a:solidFill>
                <a:latin typeface="Calibri"/>
              </a:rPr>
              <a:t>Actual Mean Willingness-to-Pay</a:t>
            </a:r>
          </a:p>
        </c:rich>
      </c:tx>
      <c:overlay val="0"/>
      <c:spPr>
        <a:noFill/>
        <a:ln w="0">
          <a:noFill/>
        </a:ln>
      </c:spPr>
    </c:title>
    <c:autoTitleDeleted val="0"/>
    <c:plotArea>
      <c:barChart>
        <c:barDir val="col"/>
        <c:grouping val="clustered"/>
        <c:varyColors val="0"/>
        <c:ser>
          <c:idx val="0"/>
          <c:order val="0"/>
          <c:tx>
            <c:strRef>
              <c:f>Sheet1!$B$1</c:f>
              <c:strCache>
                <c:ptCount val="1"/>
                <c:pt idx="0">
                  <c:v>Verve Sound</c:v>
                </c:pt>
              </c:strCache>
            </c:strRef>
          </c:tx>
          <c:spPr>
            <a:solidFill>
              <a:srgbClr val="00a8cc"/>
            </a:solidFill>
            <a:ln w="0">
              <a:noFill/>
            </a:ln>
          </c:spPr>
          <c:invertIfNegative val="0"/>
          <c:dLbls>
            <c:numFmt formatCode="\$#,##0" sourceLinked="0"/>
            <c:txPr>
              <a:bodyPr wrap="square"/>
              <a:lstStyle/>
              <a:p>
                <a:pPr>
                  <a:defRPr b="0" sz="1000" spc="-1" strike="noStrike">
                    <a:solidFill>
                      <a:srgbClr val="6b728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Sheet1!$A$2:$A$3</c:f>
              <c:strCache>
                <c:ptCount val="2"/>
                <c:pt idx="0">
                  <c:v>Separate Evaluation</c:v>
                </c:pt>
                <c:pt idx="1">
                  <c:v>Joint Evaluation</c:v>
                </c:pt>
              </c:strCache>
            </c:strRef>
          </c:cat>
          <c:val>
            <c:numRef>
              <c:f>Sheet1!$B$2:$B$3</c:f>
              <c:numCache>
                <c:formatCode>0.00</c:formatCode>
                <c:ptCount val="2"/>
                <c:pt idx="0">
                  <c:v>94.88</c:v>
                </c:pt>
                <c:pt idx="1">
                  <c:v>89.53</c:v>
                </c:pt>
              </c:numCache>
            </c:numRef>
          </c:val>
        </c:ser>
        <c:ser>
          <c:idx val="1"/>
          <c:order val="1"/>
          <c:tx>
            <c:strRef>
              <c:f>Sheet1!$C$1</c:f>
              <c:strCache>
                <c:ptCount val="1"/>
                <c:pt idx="0">
                  <c:v>Halcyon Sound</c:v>
                </c:pt>
              </c:strCache>
            </c:strRef>
          </c:tx>
          <c:spPr>
            <a:solidFill>
              <a:srgbClr val="e2725b"/>
            </a:solidFill>
            <a:ln w="0">
              <a:noFill/>
            </a:ln>
          </c:spPr>
          <c:invertIfNegative val="0"/>
          <c:dLbls>
            <c:numFmt formatCode="\$#,##0" sourceLinked="0"/>
            <c:txPr>
              <a:bodyPr wrap="square"/>
              <a:lstStyle/>
              <a:p>
                <a:pPr>
                  <a:defRPr b="0" sz="1000" spc="-1" strike="noStrike">
                    <a:solidFill>
                      <a:srgbClr val="6b728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Sheet1!$A$2:$A$3</c:f>
              <c:strCache>
                <c:ptCount val="2"/>
                <c:pt idx="0">
                  <c:v>Separate Evaluation</c:v>
                </c:pt>
                <c:pt idx="1">
                  <c:v>Joint Evaluation</c:v>
                </c:pt>
              </c:strCache>
            </c:strRef>
          </c:cat>
          <c:val>
            <c:numRef>
              <c:f>Sheet1!$C$2:$C$3</c:f>
              <c:numCache>
                <c:formatCode>0.00</c:formatCode>
                <c:ptCount val="2"/>
                <c:pt idx="0">
                  <c:v>96.93</c:v>
                </c:pt>
                <c:pt idx="1">
                  <c:v>84.59</c:v>
                </c:pt>
              </c:numCache>
            </c:numRef>
          </c:val>
        </c:ser>
        <c:gapWidth val="150"/>
        <c:overlap val="0"/>
        <c:axId val="25712145"/>
        <c:axId val="66564717"/>
      </c:barChart>
      <c:catAx>
        <c:axId val="2571214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100" spc="-1" strike="noStrike">
                <a:solidFill>
                  <a:srgbClr val="1b1f3b"/>
                </a:solidFill>
                <a:latin typeface="Arial"/>
              </a:defRPr>
            </a:pPr>
          </a:p>
        </c:txPr>
        <c:crossAx val="66564717"/>
        <c:crosses val="autoZero"/>
        <c:auto val="1"/>
        <c:lblAlgn val="ctr"/>
        <c:lblOffset val="100"/>
        <c:noMultiLvlLbl val="0"/>
      </c:catAx>
      <c:valAx>
        <c:axId val="66564717"/>
        <c:scaling>
          <c:orientation val="minMax"/>
          <c:max val="120"/>
          <c:min val="0"/>
        </c:scaling>
        <c:delete val="0"/>
        <c:axPos val="l"/>
        <c:majorGridlines>
          <c:spPr>
            <a:ln w="12600">
              <a:solidFill>
                <a:srgbClr val="edeff5"/>
              </a:solidFill>
              <a:round/>
            </a:ln>
          </c:spPr>
        </c:majorGridlines>
        <c:title>
          <c:tx>
            <c:rich>
              <a:bodyPr rot="-5400000"/>
              <a:lstStyle/>
              <a:p>
                <a:pPr>
                  <a:defRPr b="1" sz="1000" spc="-1" strike="noStrike">
                    <a:solidFill>
                      <a:srgbClr val="000000"/>
                    </a:solidFill>
                    <a:latin typeface="Calibri"/>
                  </a:defRPr>
                </a:pPr>
                <a:r>
                  <a:rPr b="1" sz="1000" spc="-1" strike="noStrike">
                    <a:solidFill>
                      <a:srgbClr val="000000"/>
                    </a:solidFill>
                    <a:latin typeface="Calibri"/>
                  </a:rPr>
                  <a:t>Mean WTP ($)</a:t>
                </a:r>
              </a:p>
            </c:rich>
          </c:tx>
          <c:overlay val="0"/>
          <c:spPr>
            <a:noFill/>
            <a:ln w="0">
              <a:noFill/>
            </a:ln>
          </c:spPr>
        </c:title>
        <c:numFmt formatCode="\$#,##0" sourceLinked="0"/>
        <c:majorTickMark val="out"/>
        <c:minorTickMark val="none"/>
        <c:tickLblPos val="nextTo"/>
        <c:spPr>
          <a:ln w="12600">
            <a:solidFill>
              <a:srgbClr val="888888"/>
            </a:solidFill>
            <a:round/>
          </a:ln>
        </c:spPr>
        <c:txPr>
          <a:bodyPr/>
          <a:lstStyle/>
          <a:p>
            <a:pPr>
              <a:defRPr b="0" sz="1000" spc="-1" strike="noStrike">
                <a:solidFill>
                  <a:srgbClr val="6b7280"/>
                </a:solidFill>
                <a:latin typeface="Arial"/>
              </a:defRPr>
            </a:pPr>
          </a:p>
        </c:txPr>
        <c:crossAx val="25712145"/>
        <c:crosses val="autoZero"/>
        <c:crossBetween val="between"/>
      </c:valAx>
      <c:spPr>
        <a:noFill/>
        <a:ln w="0">
          <a:noFill/>
        </a:ln>
      </c:spPr>
    </c:plotArea>
    <c:legend>
      <c:legendPos val="b"/>
      <c:overlay val="0"/>
      <c:spPr>
        <a:noFill/>
        <a:ln w="0">
          <a:noFill/>
        </a:ln>
      </c:spPr>
      <c:txPr>
        <a:bodyPr/>
        <a:lstStyle/>
        <a:p>
          <a:pPr>
            <a:defRPr b="0" sz="1100" spc="-1" strike="noStrike">
              <a:solidFill>
                <a:srgbClr val="1b1f3b"/>
              </a:solidFill>
              <a:latin typeface="Calibri"/>
            </a:defRPr>
          </a:pPr>
        </a:p>
      </c:txPr>
    </c:legend>
    <c:plotVisOnly val="1"/>
    <c:dispBlanksAs val="span"/>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1800" spc="-1" strike="noStrike">
                <a:solidFill>
                  <a:srgbClr val="000000"/>
                </a:solidFill>
                <a:latin typeface="Calibri"/>
              </a:defRPr>
            </a:pPr>
            <a:r>
              <a:rPr b="1" sz="1800" spc="-1" strike="noStrike">
                <a:solidFill>
                  <a:srgbClr val="000000"/>
                </a:solidFill>
                <a:latin typeface="Calibri"/>
              </a:rPr>
              <a:t>Actual Mean Willingness-to-Pay</a:t>
            </a:r>
          </a:p>
        </c:rich>
      </c:tx>
      <c:overlay val="0"/>
      <c:spPr>
        <a:noFill/>
        <a:ln w="0">
          <a:noFill/>
        </a:ln>
      </c:spPr>
    </c:title>
    <c:autoTitleDeleted val="0"/>
    <c:plotArea>
      <c:barChart>
        <c:barDir val="col"/>
        <c:grouping val="clustered"/>
        <c:varyColors val="0"/>
        <c:ser>
          <c:idx val="0"/>
          <c:order val="0"/>
          <c:tx>
            <c:strRef>
              <c:f>Sheet1!$B$1</c:f>
              <c:strCache>
                <c:ptCount val="1"/>
                <c:pt idx="0">
                  <c:v>Verve Sound</c:v>
                </c:pt>
              </c:strCache>
            </c:strRef>
          </c:tx>
          <c:spPr>
            <a:solidFill>
              <a:srgbClr val="00a8cc"/>
            </a:solidFill>
            <a:ln w="0">
              <a:noFill/>
            </a:ln>
          </c:spPr>
          <c:invertIfNegative val="0"/>
          <c:dLbls>
            <c:numFmt formatCode="\$#,##0" sourceLinked="0"/>
            <c:txPr>
              <a:bodyPr wrap="square"/>
              <a:lstStyle/>
              <a:p>
                <a:pPr>
                  <a:defRPr b="0" sz="1000" spc="-1" strike="noStrike">
                    <a:solidFill>
                      <a:srgbClr val="6b728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Sheet1!$A$2:$A$3</c:f>
              <c:strCache>
                <c:ptCount val="2"/>
                <c:pt idx="0">
                  <c:v>Joint, No Cue</c:v>
                </c:pt>
                <c:pt idx="1">
                  <c:v>Joint + Extrinsic Cue</c:v>
                </c:pt>
              </c:strCache>
            </c:strRef>
          </c:cat>
          <c:val>
            <c:numRef>
              <c:f>Sheet1!$B$2:$B$3</c:f>
              <c:numCache>
                <c:formatCode>0.00</c:formatCode>
                <c:ptCount val="2"/>
                <c:pt idx="0">
                  <c:v>89.53</c:v>
                </c:pt>
                <c:pt idx="1">
                  <c:v>104.96</c:v>
                </c:pt>
              </c:numCache>
            </c:numRef>
          </c:val>
        </c:ser>
        <c:ser>
          <c:idx val="1"/>
          <c:order val="1"/>
          <c:tx>
            <c:strRef>
              <c:f>Sheet1!$C$1</c:f>
              <c:strCache>
                <c:ptCount val="1"/>
                <c:pt idx="0">
                  <c:v>Halcyon Sound</c:v>
                </c:pt>
              </c:strCache>
            </c:strRef>
          </c:tx>
          <c:spPr>
            <a:solidFill>
              <a:srgbClr val="e2725b"/>
            </a:solidFill>
            <a:ln w="0">
              <a:noFill/>
            </a:ln>
          </c:spPr>
          <c:invertIfNegative val="0"/>
          <c:dLbls>
            <c:numFmt formatCode="\$#,##0" sourceLinked="0"/>
            <c:txPr>
              <a:bodyPr wrap="square"/>
              <a:lstStyle/>
              <a:p>
                <a:pPr>
                  <a:defRPr b="0" sz="1000" spc="-1" strike="noStrike">
                    <a:solidFill>
                      <a:srgbClr val="6b728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Sheet1!$A$2:$A$3</c:f>
              <c:strCache>
                <c:ptCount val="2"/>
                <c:pt idx="0">
                  <c:v>Joint, No Cue</c:v>
                </c:pt>
                <c:pt idx="1">
                  <c:v>Joint + Extrinsic Cue</c:v>
                </c:pt>
              </c:strCache>
            </c:strRef>
          </c:cat>
          <c:val>
            <c:numRef>
              <c:f>Sheet1!$C$2:$C$3</c:f>
              <c:numCache>
                <c:formatCode>0.00</c:formatCode>
                <c:ptCount val="2"/>
                <c:pt idx="0">
                  <c:v>84.59</c:v>
                </c:pt>
                <c:pt idx="1">
                  <c:v>100.33</c:v>
                </c:pt>
              </c:numCache>
            </c:numRef>
          </c:val>
        </c:ser>
        <c:gapWidth val="150"/>
        <c:overlap val="0"/>
        <c:axId val="33133932"/>
        <c:axId val="32837142"/>
      </c:barChart>
      <c:catAx>
        <c:axId val="33133932"/>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100" spc="-1" strike="noStrike">
                <a:solidFill>
                  <a:srgbClr val="1b1f3b"/>
                </a:solidFill>
                <a:latin typeface="Arial"/>
              </a:defRPr>
            </a:pPr>
          </a:p>
        </c:txPr>
        <c:crossAx val="32837142"/>
        <c:crosses val="autoZero"/>
        <c:auto val="1"/>
        <c:lblAlgn val="ctr"/>
        <c:lblOffset val="100"/>
        <c:noMultiLvlLbl val="0"/>
      </c:catAx>
      <c:valAx>
        <c:axId val="32837142"/>
        <c:scaling>
          <c:orientation val="minMax"/>
          <c:max val="120"/>
          <c:min val="0"/>
        </c:scaling>
        <c:delete val="0"/>
        <c:axPos val="l"/>
        <c:majorGridlines>
          <c:spPr>
            <a:ln w="12600">
              <a:solidFill>
                <a:srgbClr val="edeff5"/>
              </a:solidFill>
              <a:round/>
            </a:ln>
          </c:spPr>
        </c:majorGridlines>
        <c:title>
          <c:tx>
            <c:rich>
              <a:bodyPr rot="-5400000"/>
              <a:lstStyle/>
              <a:p>
                <a:pPr>
                  <a:defRPr b="1" sz="1000" spc="-1" strike="noStrike">
                    <a:solidFill>
                      <a:srgbClr val="000000"/>
                    </a:solidFill>
                    <a:latin typeface="Calibri"/>
                  </a:defRPr>
                </a:pPr>
                <a:r>
                  <a:rPr b="1" sz="1000" spc="-1" strike="noStrike">
                    <a:solidFill>
                      <a:srgbClr val="000000"/>
                    </a:solidFill>
                    <a:latin typeface="Calibri"/>
                  </a:rPr>
                  <a:t>Mean WTP ($)</a:t>
                </a:r>
              </a:p>
            </c:rich>
          </c:tx>
          <c:overlay val="0"/>
          <c:spPr>
            <a:noFill/>
            <a:ln w="0">
              <a:noFill/>
            </a:ln>
          </c:spPr>
        </c:title>
        <c:numFmt formatCode="\$#,##0" sourceLinked="0"/>
        <c:majorTickMark val="out"/>
        <c:minorTickMark val="none"/>
        <c:tickLblPos val="nextTo"/>
        <c:spPr>
          <a:ln w="12600">
            <a:solidFill>
              <a:srgbClr val="888888"/>
            </a:solidFill>
            <a:round/>
          </a:ln>
        </c:spPr>
        <c:txPr>
          <a:bodyPr/>
          <a:lstStyle/>
          <a:p>
            <a:pPr>
              <a:defRPr b="0" sz="1000" spc="-1" strike="noStrike">
                <a:solidFill>
                  <a:srgbClr val="6b7280"/>
                </a:solidFill>
                <a:latin typeface="Arial"/>
              </a:defRPr>
            </a:pPr>
          </a:p>
        </c:txPr>
        <c:crossAx val="33133932"/>
        <c:crosses val="autoZero"/>
        <c:crossBetween val="between"/>
      </c:valAx>
      <c:spPr>
        <a:noFill/>
        <a:ln w="0">
          <a:noFill/>
        </a:ln>
      </c:spPr>
    </c:plotArea>
    <c:legend>
      <c:legendPos val="b"/>
      <c:overlay val="0"/>
      <c:spPr>
        <a:noFill/>
        <a:ln w="0">
          <a:noFill/>
        </a:ln>
      </c:spPr>
      <c:txPr>
        <a:bodyPr/>
        <a:lstStyle/>
        <a:p>
          <a:pPr>
            <a:defRPr b="0" sz="1100" spc="-1" strike="noStrike">
              <a:solidFill>
                <a:srgbClr val="1b1f3b"/>
              </a:solidFill>
              <a:latin typeface="Calibri"/>
            </a:defRPr>
          </a:pPr>
        </a:p>
      </c:txPr>
    </c:legend>
    <c:plotVisOnly val="1"/>
    <c:dispBlanksAs val="span"/>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A00855A-8DFA-4133-A80F-64A3B2AD6BD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0" y="0"/>
            <a:ext cx="0" cy="0"/>
          </a:xfrm>
          <a:prstGeom prst="rect">
            <a:avLst/>
          </a:prstGeom>
          <a:ln w="0">
            <a:noFill/>
          </a:ln>
        </p:spPr>
      </p:sp>
      <p:sp>
        <p:nvSpPr>
          <p:cNvPr id="34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Good morning, everyone. We are Group F. Our project asks a simple question: why can the same product look like the better choice when it is shown on its own, and the worse choice when it is shown next to a competitor? We will first walk you through our replication of Hsee's 1996 evaluability study, and then we will show you our extension, where we tested whether a celebrity endorsement can change the outcome of a side-by-side comparison.</a:t>
            </a:r>
          </a:p>
        </p:txBody>
      </p:sp>
      <p:sp>
        <p:nvSpPr>
          <p:cNvPr id="342"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43E5A48A-7E6B-4787-A7A5-2F44BE044AFE}"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0" y="0"/>
            <a:ext cx="0" cy="0"/>
          </a:xfrm>
          <a:prstGeom prst="rect">
            <a:avLst/>
          </a:prstGeom>
          <a:ln w="0">
            <a:noFill/>
          </a:ln>
        </p:spPr>
      </p:sp>
      <p:sp>
        <p:nvSpPr>
          <p:cNvPr id="34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Here is the puzzle. When shoppers see one product at a time, they often prefer one option, but when they see both together, they can switch to the other, even though nothing about either product has changed. Hsee's explanation is that some attributes are easy to judge on their own and others are not. Everyone knows that a 4.7-star rating is good, so stars are easy to evaluate. Very few people know whether 0.3% distortion is good, so distortion is hard to evaluate until it sits next to another number. When a product is seen alone, people lean on the easy attribute, and when products are compared, the hard attribute finally starts to count.</a:t>
            </a:r>
          </a:p>
        </p:txBody>
      </p:sp>
      <p:sp>
        <p:nvSpPr>
          <p:cNvPr id="348"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DEDC75F1-B2FE-4D71-8E0A-63327686A29B}"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0" y="0"/>
            <a:ext cx="0" cy="0"/>
          </a:xfrm>
          <a:prstGeom prst="rect">
            <a:avLst/>
          </a:prstGeom>
          <a:ln w="0">
            <a:noFill/>
          </a:ln>
        </p:spPr>
      </p:sp>
      <p:sp>
        <p:nvSpPr>
          <p:cNvPr id="35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To test this, we created two fictional Bluetooth speakers. Verve Sound has the better star rating, 4.7 compared with 4.1, while Halcyon Sound has the better sound quality, with 0.3% distortion compared with 0.8%. We kept the review counts identical so that popularity could not explain the results. Our first hypothesis follows Hsee directly: when each speaker is seen alone, Verve should earn a higher price because of its rating, but when the two are seen together, Halcyon should earn more because its lower distortion becomes visible.</a:t>
            </a:r>
          </a:p>
        </p:txBody>
      </p:sp>
      <p:sp>
        <p:nvSpPr>
          <p:cNvPr id="351"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E596A7ED-2F72-442D-BC60-8A60CA93565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0" y="0"/>
            <a:ext cx="0" cy="0"/>
          </a:xfrm>
          <a:prstGeom prst="rect">
            <a:avLst/>
          </a:prstGeom>
          <a:ln w="0">
            <a:noFill/>
          </a:ln>
        </p:spPr>
      </p:sp>
      <p:sp>
        <p:nvSpPr>
          <p:cNvPr id="35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Before testing the hypothesis, we checked that our design worked the way Hsee's theory requires. We asked respondents who saw a single speaker how clearly they could judge each attribute. Stars scored 3.74 out of 5, while distortion scored only 2.59, and that difference is highly significant. This confirms that stars worked as the easy attribute and distortion worked as the hard one, so the foundation of the experiment was in place.</a:t>
            </a:r>
          </a:p>
        </p:txBody>
      </p:sp>
      <p:sp>
        <p:nvSpPr>
          <p:cNvPr id="354"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A6FB06F-4D79-4F63-A9C4-AD645741E8C4}"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Even though our data did not confirm the hypothesis, the real market suggests that the idea behind it is sound. In the United States, Beats is used by more people than Bose or Sony, even though Bose and Sony are generally seen as the stronger brands on sound quality. Apple owns both AirPods and Beats, and it markets AirPods on features and ecosystem while it markets Beats on culture and celebrity. This is only a correlation, because real markets mix price, design and marketing, but it shows that extrinsic cues can win in the market, which is why our experiment tried to isolate the cue itself.</a:t>
            </a:r>
          </a:p>
        </p:txBody>
      </p:sp>
      <p:sp>
        <p:nvSpPr>
          <p:cNvPr id="4" name="Slide Number Placeholder 3"/>
          <p:cNvSpPr>
            <a:spLocks noGrp="1"/>
          </p:cNvSpPr>
          <p:nvPr>
            <p:ph type="sldNum" idx="3"/>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0" y="0"/>
            <a:ext cx="0" cy="0"/>
          </a:xfrm>
          <a:prstGeom prst="rect">
            <a:avLst/>
          </a:prstGeom>
          <a:ln w="0">
            <a:noFill/>
          </a:ln>
        </p:spPr>
      </p:sp>
      <p:sp>
        <p:nvSpPr>
          <p:cNvPr id="35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Our extension starts from the point where Hsee's theory leaves Verve. If Halcyon wins once shoppers compare the two speakers, is there anything Verve can do without changing its specifications? We tested an extrinsic cue, meaning a signal that comes from outside the product itself. Our second hypothesis is that adding a celebrity association to Verve will widen its price lead over Halcyon in a side-by-side comparison, even though its specifications are worse. We designed the cue as an influencer-style post showing Dua Lipa with the speaker under the caption, Dua Lipa's Verve Era.</a:t>
            </a:r>
          </a:p>
        </p:txBody>
      </p:sp>
      <p:sp>
        <p:nvSpPr>
          <p:cNvPr id="360"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92DDB81C-0C70-414B-B638-28F509B80EA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0" y="0"/>
            <a:ext cx="0" cy="0"/>
          </a:xfrm>
          <a:prstGeom prst="rect">
            <a:avLst/>
          </a:prstGeom>
          <a:ln w="0">
            <a:noFill/>
          </a:ln>
        </p:spPr>
      </p:sp>
      <p:sp>
        <p:nvSpPr>
          <p:cNvPr id="36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Two theories from class explain why we expected this to work. Cue Utilization Theory says that shoppers judge quality using both intrinsic cues, which are part of the product, and extrinsic cues, such as brand or endorsement, and that they rely more on extrinsic cues when the intrinsic ones are hard to interpret. The Elaboration Likelihood Model adds that when processing the real substance takes effort, people rely on easy peripheral signals, and a celebrity is a classic example. Distortion is exactly the kind of attribute that is hard to process, so we expected the celebrity to carry real weight.</a:t>
            </a:r>
          </a:p>
        </p:txBody>
      </p:sp>
      <p:sp>
        <p:nvSpPr>
          <p:cNvPr id="363"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86E0919-9C24-442D-A5AD-55B2ACFA2634}"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0" y="0"/>
            <a:ext cx="0" cy="0"/>
          </a:xfrm>
          <a:prstGeom prst="rect">
            <a:avLst/>
          </a:prstGeom>
          <a:ln w="0">
            <a:noFill/>
          </a:ln>
        </p:spPr>
      </p:sp>
      <p:sp>
        <p:nvSpPr>
          <p:cNvPr id="36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The design is a single, clean comparison. The baseline is our joint-evaluation group from the replication, which saw both speakers side by side. The new group saw exactly the same comparison, except that Verve's card showed Dua Lipa holding the speaker. We had 30 respondents in the baseline and 27 in the celebrity group. If our hypothesis is right, the celebrity group should value Verve noticeably more than Halcyon.</a:t>
            </a:r>
          </a:p>
        </p:txBody>
      </p:sp>
      <p:sp>
        <p:nvSpPr>
          <p:cNvPr id="366"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9C66A2B9-BDAE-473F-B3D9-56CA2CAEFB01}"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0" y="0"/>
            <a:ext cx="0" cy="0"/>
          </a:xfrm>
          <a:prstGeom prst="rect">
            <a:avLst/>
          </a:prstGeom>
          <a:ln w="0">
            <a:noFill/>
          </a:ln>
        </p:spPr>
      </p:sp>
      <p:sp>
        <p:nvSpPr>
          <p:cNvPr id="36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We collected responses online through Google Forms from 111 people, about two-thirds of whom were students, living in nine countries, mainly the United States and India. Each of the five group members split their contacts across four forms, so every respondent saw only one version: Verve alone, Halcyon alone, both speakers together, or both speakers with the celebrity cue, which we will come back to in the extension. Respondents told us the most they would pay for each speaker, and we compared the groups using t-tests in SPSS.</a:t>
            </a:r>
          </a:p>
        </p:txBody>
      </p:sp>
      <p:sp>
        <p:nvSpPr>
          <p:cNvPr id="369"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44F18533-A966-4E68-949B-638E79B81512}"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0" y="0"/>
            <a:ext cx="0" cy="0"/>
          </a:xfrm>
          <a:prstGeom prst="rect">
            <a:avLst/>
          </a:prstGeom>
          <a:ln w="0">
            <a:noFill/>
          </a:ln>
        </p:spPr>
      </p:sp>
      <p:sp>
        <p:nvSpPr>
          <p:cNvPr id="37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Here are the results next to Hsee's original findings. In Hsee's study, the option with the better hard attribute gained value when the two options were compared. In our study, both speakers lost a little value when they were shown together: Verve fell from about $95 to about $90, and Halcyon fell from about $97 to about $85. Neither change was statistically significant, and Halcyon moved in the opposite direction from what we predicted, so our first hypothesis was not supported.</a:t>
            </a:r>
          </a:p>
        </p:txBody>
      </p:sp>
      <p:sp>
        <p:nvSpPr>
          <p:cNvPr id="372"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671501B8-3B2E-4746-8365-8B501417BC5B}"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0" y="0"/>
            <a:ext cx="0" cy="0"/>
          </a:xfrm>
          <a:prstGeom prst="rect">
            <a:avLst/>
          </a:prstGeom>
          <a:ln w="0">
            <a:noFill/>
          </a:ln>
        </p:spPr>
      </p:sp>
      <p:sp>
        <p:nvSpPr>
          <p:cNvPr id="37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Here is what happened. The celebrity cue did raise Verve's price, from about $90 to about $105. However, Halcyon's price rose by almost exactly the same amount, from about $85 to about $100, even though the celebrity was attached only to Verve. The key test is the gap between the two speakers, and that gap barely moved, from about $6 to about $5, which is far from significant. In other words, the cue lifted the whole comparison rather than giving Verve an advantage, so our second hypothesis was not supported.</a:t>
            </a:r>
          </a:p>
        </p:txBody>
      </p:sp>
      <p:sp>
        <p:nvSpPr>
          <p:cNvPr id="375"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36D8498-6606-4F40-A851-3E32DC306205}"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If the evaluability hypothesis holds, it gives managers three practical lessons. First, a brand whose advantage is technical and hard to judge should invite comparison, for example through comparison tables and side-by-side displays. Second, a brand whose advantage is easy to judge, such as a strong rating, should focus on places where shoppers see one product at a time, like social media ads and product pages. Third, any brand can make a technical advantage easier to judge by adding a simple benchmark on its own product page. That brings us to our extension.</a:t>
            </a:r>
          </a:p>
        </p:txBody>
      </p:sp>
      <p:sp>
        <p:nvSpPr>
          <p:cNvPr id="4" name="Slide Number Placeholder 3"/>
          <p:cNvSpPr>
            <a:spLocks noGrp="1"/>
          </p:cNvSpPr>
          <p:nvPr>
            <p:ph type="sldNum" idx="3"/>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0" y="0"/>
            <a:ext cx="0" cy="0"/>
          </a:xfrm>
          <a:prstGeom prst="rect">
            <a:avLst/>
          </a:prstGeom>
          <a:ln w="0">
            <a:noFill/>
          </a:ln>
        </p:spPr>
      </p:sp>
      <p:sp>
        <p:nvSpPr>
          <p:cNvPr id="38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Since the manipulation check worked, we looked for other reasons the reversal did not appear. The most important is that our distortion attribute was easier to understand than Hsee's. We labeled it simply as distortion, a word everyone knows is bad for sound, and our values were below one percent, so 0.3% already sounds like very little distortion even when you see it alone. Hsee used a technical term, total harmonic distortion, with tiny decimals like .003% that are hard to picture. That is why Halcyon was valued as highly as Verve even when it was shown on its own. The gap between 4.7 and 4.1 stars was also small, because both ratings look good. When both products look attractive, comparing them can lower the value of both, which is exactly what we saw. Finally, our sample mix differed slightly between forms, Hsee's own effect in separate evaluation was modest, and our groups of about 28 people were too small to detect small effects.</a:t>
            </a:r>
          </a:p>
        </p:txBody>
      </p:sp>
      <p:sp>
        <p:nvSpPr>
          <p:cNvPr id="381"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4DAEADF-228B-405F-B6E7-313AAFE88118}"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We know the cue was noticed, because about three-quarters of respondents correctly named Dua Lipa, so we looked for other explanations. The most important one is that there was no gap to close: Hsee's theory predicted that Halcyon would lead in the comparison, but without the cue Verve was already ahead by about six dollars. Respondents also saw pictures rather than real speakers, and they knew they were answering an academic survey rather than making a real purchase. Our international sample matters too, because for someone used to rupees, fifty dollars can sound cheap and lead to overpaying. Finally, the celebrity form happened to have more respondents from India, and our sample was too small to detect small effects.</a:t>
            </a:r>
          </a:p>
        </p:txBody>
      </p:sp>
      <p:sp>
        <p:nvSpPr>
          <p:cNvPr id="4" name="Slide Number Placeholder 3"/>
          <p:cNvSpPr>
            <a:spLocks noGrp="1"/>
          </p:cNvSpPr>
          <p:nvPr>
            <p:ph type="sldNum" idx="3"/>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If our extension hypothesis holds, managers can take three lessons from it. First, a brand that trails on a technical specification should put an easy extrinsic cue exactly where shoppers compare products, such as comparison charts and marketplace listings. Second, the cue must be clearly tied to the product, and success should be measured by the price premium over competitors, because our results show that a cue can lift the whole category. Third, celebrities are only one option, so managers should also test awards, expert recommendations, country of origin, packaging and retailer prestige.</a:t>
            </a:r>
          </a:p>
        </p:txBody>
      </p:sp>
      <p:sp>
        <p:nvSpPr>
          <p:cNvPr id="4" name="Slide Number Placeholder 3"/>
          <p:cNvSpPr>
            <a:spLocks noGrp="1"/>
          </p:cNvSpPr>
          <p:nvPr>
            <p:ph type="sldNum" idx="3"/>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0" y="0"/>
            <a:ext cx="0" cy="0"/>
          </a:xfrm>
          <a:prstGeom prst="rect">
            <a:avLst/>
          </a:prstGeom>
          <a:ln w="0">
            <a:noFill/>
          </a:ln>
        </p:spPr>
      </p:sp>
      <p:sp>
        <p:nvSpPr>
          <p:cNvPr id="38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r>
              <a:t>To close, neither of our hypotheses was supported, but both studies showed us how sensitive these effects are to the way products and cues are presented. Thank you for listening, and we are happy to take your questions.</a:t>
            </a:r>
          </a:p>
        </p:txBody>
      </p:sp>
      <p:sp>
        <p:nvSpPr>
          <p:cNvPr id="390"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71696099-49F2-4B63-BB4B-11DD52E3F986}"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8.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12.png"/><Relationship Id="rId3"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3.jpe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1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1f3b"/>
        </a:solidFill>
      </p:bgPr>
    </p:bg>
    <p:spTree>
      <p:nvGrpSpPr>
        <p:cNvPr id="1" name=""/>
        <p:cNvGrpSpPr/>
        <p:nvPr/>
      </p:nvGrpSpPr>
      <p:grpSpPr>
        <a:xfrm>
          <a:off x="0" y="0"/>
          <a:ext cx="0" cy="0"/>
          <a:chOff x="0" y="0"/>
          <a:chExt cx="0" cy="0"/>
        </a:xfrm>
      </p:grpSpPr>
      <p:sp>
        <p:nvSpPr>
          <p:cNvPr id="8" name="Shape 0"/>
          <p:cNvSpPr/>
          <p:nvPr/>
        </p:nvSpPr>
        <p:spPr>
          <a:xfrm>
            <a:off x="9692640" y="-1463040"/>
            <a:ext cx="4754520" cy="4754520"/>
          </a:xfrm>
          <a:prstGeom prst="ellipse">
            <a:avLst/>
          </a:prstGeom>
          <a:solidFill>
            <a:srgbClr val="12152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 name="Shape 1"/>
          <p:cNvSpPr/>
          <p:nvPr/>
        </p:nvSpPr>
        <p:spPr>
          <a:xfrm>
            <a:off x="10607040" y="4206240"/>
            <a:ext cx="3291480" cy="3291480"/>
          </a:xfrm>
          <a:prstGeom prst="ellipse">
            <a:avLst/>
          </a:prstGeom>
          <a:solidFill>
            <a:srgbClr val="222a55"/>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 name="Text 2"/>
          <p:cNvSpPr/>
          <p:nvPr/>
        </p:nvSpPr>
        <p:spPr>
          <a:xfrm>
            <a:off x="731520" y="123444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99" strike="noStrike">
                <a:solidFill>
                  <a:srgbClr val="f4b400"/>
                </a:solidFill>
                <a:latin typeface="Calibri"/>
                <a:ea typeface="Calibri"/>
              </a:rPr>
              <a:t>FINDINGS PRESENTATION</a:t>
            </a:r>
            <a:endParaRPr b="0" lang="en-US" sz="1300" spc="-1" strike="noStrike">
              <a:solidFill>
                <a:srgbClr val="ffffff"/>
              </a:solidFill>
              <a:latin typeface="Arial"/>
            </a:endParaRPr>
          </a:p>
        </p:txBody>
      </p:sp>
      <p:sp>
        <p:nvSpPr>
          <p:cNvPr id="11" name="Text 3"/>
          <p:cNvSpPr/>
          <p:nvPr/>
        </p:nvSpPr>
        <p:spPr>
          <a:xfrm>
            <a:off x="731520" y="1645920"/>
            <a:ext cx="7863480" cy="1828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4000" spc="-1" strike="noStrike">
                <a:solidFill>
                  <a:srgbClr val="ffffff"/>
                </a:solidFill>
                <a:latin typeface="Cambria"/>
                <a:ea typeface="Cambria"/>
              </a:rPr>
              <a:t>Why the Same Speaker</a:t>
            </a:r>
            <a:endParaRPr b="0" lang="en-US" sz="4000" spc="-1" strike="noStrike">
              <a:solidFill>
                <a:srgbClr val="ffffff"/>
              </a:solidFill>
              <a:latin typeface="Arial"/>
            </a:endParaRPr>
          </a:p>
          <a:p>
            <a:pPr defTabSz="914400">
              <a:lnSpc>
                <a:spcPct val="105000"/>
              </a:lnSpc>
              <a:tabLst>
                <a:tab algn="l" pos="0"/>
              </a:tabLst>
            </a:pPr>
            <a:r>
              <a:rPr b="1" lang="en-US" sz="4000" spc="-1" strike="noStrike">
                <a:solidFill>
                  <a:srgbClr val="ffffff"/>
                </a:solidFill>
                <a:latin typeface="Cambria"/>
                <a:ea typeface="Cambria"/>
              </a:rPr>
              <a:t>Can Win Alone and Lose Together</a:t>
            </a:r>
            <a:endParaRPr b="0" lang="en-US" sz="4000" spc="-1" strike="noStrike">
              <a:solidFill>
                <a:srgbClr val="ffffff"/>
              </a:solidFill>
              <a:latin typeface="Arial"/>
            </a:endParaRPr>
          </a:p>
        </p:txBody>
      </p:sp>
      <p:sp>
        <p:nvSpPr>
          <p:cNvPr id="12" name="Text 4"/>
          <p:cNvSpPr/>
          <p:nvPr/>
        </p:nvSpPr>
        <p:spPr>
          <a:xfrm>
            <a:off x="731520" y="3520440"/>
            <a:ext cx="74977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7cce8"/>
                </a:solidFill>
                <a:latin typeface="Calibri"/>
                <a:ea typeface="Calibri"/>
              </a:rPr>
              <a:t>Testing Hsee's (1996) Evaluability Hypothesis, and whether an extrinsic cue can reverse it again</a:t>
            </a:r>
            <a:endParaRPr b="0" lang="en-US" sz="1500" spc="-1" strike="noStrike">
              <a:solidFill>
                <a:srgbClr val="ffffff"/>
              </a:solidFill>
              <a:latin typeface="Arial"/>
            </a:endParaRPr>
          </a:p>
        </p:txBody>
      </p:sp>
      <p:sp>
        <p:nvSpPr>
          <p:cNvPr id="13" name="Text 5"/>
          <p:cNvSpPr/>
          <p:nvPr/>
        </p:nvSpPr>
        <p:spPr>
          <a:xfrm>
            <a:off x="731520" y="603504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8890b5"/>
                </a:solidFill>
                <a:latin typeface="Calibri"/>
                <a:ea typeface="Calibri"/>
              </a:rPr>
              <a:t>Global Customer Decision Making  |  Group Project Findings  |  October 2026</a:t>
            </a:r>
            <a:endParaRPr b="0" lang="en-US" sz="1100" spc="-1" strike="noStrike">
              <a:solidFill>
                <a:srgbClr val="ffffff"/>
              </a:solidFill>
              <a:latin typeface="Arial"/>
            </a:endParaRPr>
          </a:p>
        </p:txBody>
      </p:sp>
      <p:pic>
        <p:nvPicPr>
          <p:cNvPr id="14" name="Image 0" descr="/home/claude/deck/verve_new_trim.png"/>
          <p:cNvPicPr/>
          <p:nvPr/>
        </p:nvPicPr>
        <p:blipFill>
          <a:blip r:embed="rId1"/>
          <a:stretch/>
        </p:blipFill>
        <p:spPr>
          <a:xfrm>
            <a:off x="8778240" y="1935000"/>
            <a:ext cx="3200040" cy="1249920"/>
          </a:xfrm>
          <a:prstGeom prst="rect">
            <a:avLst/>
          </a:prstGeom>
          <a:ln w="0">
            <a:noFill/>
          </a:ln>
        </p:spPr>
      </p:pic>
      <p:pic>
        <p:nvPicPr>
          <p:cNvPr id="15" name="Image 1" descr="/home/claude/deck/halcyon_new_trim.png"/>
          <p:cNvPicPr/>
          <p:nvPr/>
        </p:nvPicPr>
        <p:blipFill>
          <a:blip r:embed="rId2"/>
          <a:stretch/>
        </p:blipFill>
        <p:spPr>
          <a:xfrm>
            <a:off x="8778240" y="3880080"/>
            <a:ext cx="3200040" cy="1292040"/>
          </a:xfrm>
          <a:prstGeom prst="rect">
            <a:avLst/>
          </a:prstGeom>
          <a:ln w="0">
            <a:noFill/>
          </a:ln>
        </p:spPr>
      </p:pic>
      <p:pic>
        <p:nvPicPr>
          <p:cNvPr id="16" name="Image 2" descr="/home/claude/deck/icon_exchange.png"/>
          <p:cNvPicPr/>
          <p:nvPr/>
        </p:nvPicPr>
        <p:blipFill>
          <a:blip r:embed="rId3"/>
          <a:stretch/>
        </p:blipFill>
        <p:spPr>
          <a:xfrm>
            <a:off x="10127160" y="3291840"/>
            <a:ext cx="502560" cy="5025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THE PUZZLE AND THE THEORY</a:t>
            </a:r>
            <a:endParaRPr b="0" lang="en-US" sz="1200" spc="-1" strike="noStrike">
              <a:solidFill>
                <a:srgbClr val="000000"/>
              </a:solidFill>
              <a:latin typeface="Arial"/>
            </a:endParaRPr>
          </a:p>
        </p:txBody>
      </p:sp>
      <p:sp>
        <p:nvSpPr>
          <p:cNvPr id="36"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The Evaluability Hypothesis (Hsee, 1996)</a:t>
            </a:r>
            <a:endParaRPr b="0" lang="en-US" sz="3000" spc="-1" strike="noStrike">
              <a:solidFill>
                <a:srgbClr val="000000"/>
              </a:solidFill>
              <a:latin typeface="Arial"/>
            </a:endParaRPr>
          </a:p>
        </p:txBody>
      </p:sp>
      <p:sp>
        <p:nvSpPr>
          <p:cNvPr id="37" name="Text 2"/>
          <p:cNvSpPr/>
          <p:nvPr/>
        </p:nvSpPr>
        <p:spPr>
          <a:xfrm>
            <a:off x="548640" y="1463040"/>
            <a:ext cx="110638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50" spc="-1" strike="noStrike">
                <a:solidFill>
                  <a:srgbClr val="1b1f3b"/>
                </a:solidFill>
                <a:latin typeface="Calibri"/>
                <a:ea typeface="Calibri"/>
              </a:rPr>
              <a:t>Shown alone, shoppers may favor one speaker; shown side by side, they may switch to the other, with nothing about either product changed. Hsee (1996) explains why.</a:t>
            </a:r>
            <a:endParaRPr b="0" lang="en-US" sz="1450" spc="-1" strike="noStrike">
              <a:solidFill>
                <a:srgbClr val="000000"/>
              </a:solidFill>
              <a:latin typeface="Arial"/>
            </a:endParaRPr>
          </a:p>
        </p:txBody>
      </p:sp>
      <p:sp>
        <p:nvSpPr>
          <p:cNvPr id="38" name="Shape 3"/>
          <p:cNvSpPr/>
          <p:nvPr/>
        </p:nvSpPr>
        <p:spPr>
          <a:xfrm>
            <a:off x="548640" y="2286000"/>
            <a:ext cx="5348880" cy="3382920"/>
          </a:xfrm>
          <a:prstGeom prst="roundRect">
            <a:avLst>
              <a:gd name="adj" fmla="val 3243"/>
            </a:avLst>
          </a:prstGeom>
          <a:solidFill>
            <a:srgbClr val="f6f7fa"/>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9" name="Shape 4"/>
          <p:cNvSpPr/>
          <p:nvPr/>
        </p:nvSpPr>
        <p:spPr>
          <a:xfrm>
            <a:off x="914400" y="2651760"/>
            <a:ext cx="639720" cy="639720"/>
          </a:xfrm>
          <a:prstGeom prst="ellipse">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40" name="Image 0" descr="/home/claude/deck/icon_star_gold.png"/>
          <p:cNvPicPr/>
          <p:nvPr/>
        </p:nvPicPr>
        <p:blipFill>
          <a:blip r:embed="rId1"/>
          <a:stretch/>
        </p:blipFill>
        <p:spPr>
          <a:xfrm>
            <a:off x="997560" y="2734920"/>
            <a:ext cx="473400" cy="473400"/>
          </a:xfrm>
          <a:prstGeom prst="rect">
            <a:avLst/>
          </a:prstGeom>
          <a:ln w="0">
            <a:noFill/>
          </a:ln>
        </p:spPr>
      </p:pic>
      <p:sp>
        <p:nvSpPr>
          <p:cNvPr id="41" name="Text 5"/>
          <p:cNvSpPr/>
          <p:nvPr/>
        </p:nvSpPr>
        <p:spPr>
          <a:xfrm>
            <a:off x="1737360" y="2697480"/>
            <a:ext cx="3885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1f3b"/>
                </a:solidFill>
                <a:latin typeface="Calibri"/>
                <a:ea typeface="Calibri"/>
              </a:rPr>
              <a:t>EASY TO EVALUATE</a:t>
            </a:r>
            <a:endParaRPr b="0" lang="en-US" sz="1300" spc="-1" strike="noStrike">
              <a:solidFill>
                <a:srgbClr val="000000"/>
              </a:solidFill>
              <a:latin typeface="Arial"/>
            </a:endParaRPr>
          </a:p>
        </p:txBody>
      </p:sp>
      <p:sp>
        <p:nvSpPr>
          <p:cNvPr id="42" name="Text 6"/>
          <p:cNvSpPr/>
          <p:nvPr/>
        </p:nvSpPr>
        <p:spPr>
          <a:xfrm>
            <a:off x="1737360" y="2999160"/>
            <a:ext cx="3885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00" spc="-1" strike="noStrike">
                <a:solidFill>
                  <a:srgbClr val="6b7280"/>
                </a:solidFill>
                <a:latin typeface="Calibri"/>
                <a:ea typeface="Calibri"/>
              </a:rPr>
              <a:t>e.g., a star rating</a:t>
            </a:r>
            <a:endParaRPr b="0" lang="en-US" sz="1100" spc="-1" strike="noStrike">
              <a:solidFill>
                <a:srgbClr val="000000"/>
              </a:solidFill>
              <a:latin typeface="Arial"/>
            </a:endParaRPr>
          </a:p>
        </p:txBody>
      </p:sp>
      <p:sp>
        <p:nvSpPr>
          <p:cNvPr id="43" name="Text 7"/>
          <p:cNvSpPr/>
          <p:nvPr/>
        </p:nvSpPr>
        <p:spPr>
          <a:xfrm>
            <a:off x="914400" y="3611880"/>
            <a:ext cx="4617360" cy="173700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1350" spc="-1" strike="noStrike">
                <a:solidFill>
                  <a:srgbClr val="1b1f3b"/>
                </a:solidFill>
                <a:latin typeface="Calibri"/>
                <a:ea typeface="Calibri"/>
              </a:rPr>
              <a:t>A 4.7★ rating means something the moment you see it. No comparison needed. Everyone already knows the scale.</a:t>
            </a:r>
            <a:endParaRPr b="0" lang="en-US" sz="1350" spc="-1" strike="noStrike">
              <a:solidFill>
                <a:srgbClr val="000000"/>
              </a:solidFill>
              <a:latin typeface="Arial"/>
            </a:endParaRPr>
          </a:p>
        </p:txBody>
      </p:sp>
      <p:sp>
        <p:nvSpPr>
          <p:cNvPr id="44" name="Shape 8"/>
          <p:cNvSpPr/>
          <p:nvPr/>
        </p:nvSpPr>
        <p:spPr>
          <a:xfrm>
            <a:off x="6446520" y="2286000"/>
            <a:ext cx="5348880" cy="3382920"/>
          </a:xfrm>
          <a:prstGeom prst="roundRect">
            <a:avLst>
              <a:gd name="adj" fmla="val 3243"/>
            </a:avLst>
          </a:prstGeom>
          <a:solidFill>
            <a:srgbClr val="f6f7fa"/>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5" name="Shape 9"/>
          <p:cNvSpPr/>
          <p:nvPr/>
        </p:nvSpPr>
        <p:spPr>
          <a:xfrm>
            <a:off x="6812280" y="2651760"/>
            <a:ext cx="639720" cy="63972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46" name="Image 1" descr="/home/claude/deck/icon_question.png"/>
          <p:cNvPicPr/>
          <p:nvPr/>
        </p:nvPicPr>
        <p:blipFill>
          <a:blip r:embed="rId2"/>
          <a:stretch/>
        </p:blipFill>
        <p:spPr>
          <a:xfrm>
            <a:off x="6895440" y="2734920"/>
            <a:ext cx="473400" cy="473400"/>
          </a:xfrm>
          <a:prstGeom prst="rect">
            <a:avLst/>
          </a:prstGeom>
          <a:ln w="0">
            <a:noFill/>
          </a:ln>
        </p:spPr>
      </p:pic>
      <p:sp>
        <p:nvSpPr>
          <p:cNvPr id="47" name="Text 10"/>
          <p:cNvSpPr/>
          <p:nvPr/>
        </p:nvSpPr>
        <p:spPr>
          <a:xfrm>
            <a:off x="7635240" y="2697480"/>
            <a:ext cx="3885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1f3b"/>
                </a:solidFill>
                <a:latin typeface="Calibri"/>
                <a:ea typeface="Calibri"/>
              </a:rPr>
              <a:t>HARD TO EVALUATE</a:t>
            </a:r>
            <a:endParaRPr b="0" lang="en-US" sz="1300" spc="-1" strike="noStrike">
              <a:solidFill>
                <a:srgbClr val="000000"/>
              </a:solidFill>
              <a:latin typeface="Arial"/>
            </a:endParaRPr>
          </a:p>
        </p:txBody>
      </p:sp>
      <p:sp>
        <p:nvSpPr>
          <p:cNvPr id="48" name="Text 11"/>
          <p:cNvSpPr/>
          <p:nvPr/>
        </p:nvSpPr>
        <p:spPr>
          <a:xfrm>
            <a:off x="7635240" y="2999160"/>
            <a:ext cx="3885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00" spc="-1" strike="noStrike">
                <a:solidFill>
                  <a:srgbClr val="6b7280"/>
                </a:solidFill>
                <a:latin typeface="Calibri"/>
                <a:ea typeface="Calibri"/>
              </a:rPr>
              <a:t>e.g., a technical spec</a:t>
            </a:r>
            <a:endParaRPr b="0" lang="en-US" sz="1100" spc="-1" strike="noStrike">
              <a:solidFill>
                <a:srgbClr val="000000"/>
              </a:solidFill>
              <a:latin typeface="Arial"/>
            </a:endParaRPr>
          </a:p>
        </p:txBody>
      </p:sp>
      <p:sp>
        <p:nvSpPr>
          <p:cNvPr id="49" name="Text 12"/>
          <p:cNvSpPr/>
          <p:nvPr/>
        </p:nvSpPr>
        <p:spPr>
          <a:xfrm>
            <a:off x="6812280" y="3611880"/>
            <a:ext cx="4617360" cy="173700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1350" spc="-1" strike="noStrike">
                <a:solidFill>
                  <a:srgbClr val="1b1f3b"/>
                </a:solidFill>
                <a:latin typeface="Calibri"/>
                <a:ea typeface="Calibri"/>
              </a:rPr>
              <a:t>Is 0.3% distortion good? Most people have no idea. Once they see it standing next to 0.8%, the gap suddenly becomes obvious.</a:t>
            </a:r>
            <a:endParaRPr b="0" lang="en-US" sz="1350" spc="-1" strike="noStrike">
              <a:solidFill>
                <a:srgbClr val="000000"/>
              </a:solidFill>
              <a:latin typeface="Arial"/>
            </a:endParaRPr>
          </a:p>
        </p:txBody>
      </p:sp>
      <p:sp>
        <p:nvSpPr>
          <p:cNvPr id="50" name="Shape 13"/>
          <p:cNvSpPr/>
          <p:nvPr/>
        </p:nvSpPr>
        <p:spPr>
          <a:xfrm>
            <a:off x="548640" y="5852160"/>
            <a:ext cx="11246760" cy="566640"/>
          </a:xfrm>
          <a:prstGeom prst="roundRect">
            <a:avLst>
              <a:gd name="adj" fmla="val 16129"/>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1" name="Text 14"/>
          <p:cNvSpPr/>
          <p:nvPr/>
        </p:nvSpPr>
        <p:spPr>
          <a:xfrm>
            <a:off x="548640" y="5852160"/>
            <a:ext cx="1124676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Calibri"/>
                <a:ea typeface="Calibri"/>
              </a:rPr>
              <a:t>Alone → people lean on the easy attribute.   Together → the hard attribute suddenly counts.</a:t>
            </a:r>
            <a:endParaRPr b="0" lang="en-US" sz="1300" spc="-1" strike="noStrike">
              <a:solidFill>
                <a:srgbClr val="000000"/>
              </a:solidFill>
              <a:latin typeface="Arial"/>
            </a:endParaRPr>
          </a:p>
        </p:txBody>
      </p:sp>
      <p:sp>
        <p:nvSpPr>
          <p:cNvPr id="52" name="Text 15"/>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53" name="Text 16"/>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1: STIMULI AND HYPOTHESIS</a:t>
            </a:r>
            <a:endParaRPr b="0" lang="en-US" sz="1200" spc="-1" strike="noStrike">
              <a:solidFill>
                <a:srgbClr val="000000"/>
              </a:solidFill>
              <a:latin typeface="Arial"/>
            </a:endParaRPr>
          </a:p>
        </p:txBody>
      </p:sp>
      <p:sp>
        <p:nvSpPr>
          <p:cNvPr id="55"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Meet the Two Speakers</a:t>
            </a:r>
            <a:endParaRPr b="0" lang="en-US" sz="3000" spc="-1" strike="noStrike">
              <a:solidFill>
                <a:srgbClr val="000000"/>
              </a:solidFill>
              <a:latin typeface="Arial"/>
            </a:endParaRPr>
          </a:p>
        </p:txBody>
      </p:sp>
      <p:sp>
        <p:nvSpPr>
          <p:cNvPr id="56" name="Shape 2"/>
          <p:cNvSpPr/>
          <p:nvPr/>
        </p:nvSpPr>
        <p:spPr>
          <a:xfrm>
            <a:off x="1097280" y="1554480"/>
            <a:ext cx="4297320" cy="4205880"/>
          </a:xfrm>
          <a:prstGeom prst="roundRect">
            <a:avLst>
              <a:gd name="adj" fmla="val 304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57" name="Image 0" descr="/home/claude/deck/verve_new_trim.png"/>
          <p:cNvPicPr/>
          <p:nvPr/>
        </p:nvPicPr>
        <p:blipFill>
          <a:blip r:embed="rId1"/>
          <a:stretch/>
        </p:blipFill>
        <p:spPr>
          <a:xfrm>
            <a:off x="1463040" y="1909440"/>
            <a:ext cx="3565800" cy="1392840"/>
          </a:xfrm>
          <a:prstGeom prst="rect">
            <a:avLst/>
          </a:prstGeom>
          <a:ln w="0">
            <a:noFill/>
          </a:ln>
        </p:spPr>
      </p:pic>
      <p:sp>
        <p:nvSpPr>
          <p:cNvPr id="58" name="Text 3"/>
          <p:cNvSpPr/>
          <p:nvPr/>
        </p:nvSpPr>
        <p:spPr>
          <a:xfrm>
            <a:off x="1097280" y="3703320"/>
            <a:ext cx="42973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900" spc="-1" strike="noStrike">
                <a:solidFill>
                  <a:srgbClr val="1b1f3b"/>
                </a:solidFill>
                <a:latin typeface="Cambria"/>
                <a:ea typeface="Cambria"/>
              </a:rPr>
              <a:t>Verve Sound</a:t>
            </a:r>
            <a:endParaRPr b="0" lang="en-US" sz="1900" spc="-1" strike="noStrike">
              <a:solidFill>
                <a:srgbClr val="000000"/>
              </a:solidFill>
              <a:latin typeface="Arial"/>
            </a:endParaRPr>
          </a:p>
        </p:txBody>
      </p:sp>
      <p:pic>
        <p:nvPicPr>
          <p:cNvPr id="59" name="Image 1" descr="/home/claude/deck/stars_4_7.png"/>
          <p:cNvPicPr/>
          <p:nvPr/>
        </p:nvPicPr>
        <p:blipFill>
          <a:blip r:embed="rId2"/>
          <a:stretch/>
        </p:blipFill>
        <p:spPr>
          <a:xfrm>
            <a:off x="2391120" y="4187880"/>
            <a:ext cx="1051200" cy="209880"/>
          </a:xfrm>
          <a:prstGeom prst="rect">
            <a:avLst/>
          </a:prstGeom>
          <a:ln w="0">
            <a:noFill/>
          </a:ln>
        </p:spPr>
      </p:pic>
      <p:sp>
        <p:nvSpPr>
          <p:cNvPr id="60" name="Text 4"/>
          <p:cNvSpPr/>
          <p:nvPr/>
        </p:nvSpPr>
        <p:spPr>
          <a:xfrm>
            <a:off x="3552480" y="4133160"/>
            <a:ext cx="548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4b400"/>
                </a:solidFill>
                <a:latin typeface="Calibri"/>
                <a:ea typeface="Calibri"/>
              </a:rPr>
              <a:t>4.7</a:t>
            </a:r>
            <a:endParaRPr b="0" lang="en-US" sz="1500" spc="-1" strike="noStrike">
              <a:solidFill>
                <a:srgbClr val="000000"/>
              </a:solidFill>
              <a:latin typeface="Arial"/>
            </a:endParaRPr>
          </a:p>
        </p:txBody>
      </p:sp>
      <p:sp>
        <p:nvSpPr>
          <p:cNvPr id="61" name="Text 5"/>
          <p:cNvSpPr/>
          <p:nvPr/>
        </p:nvSpPr>
        <p:spPr>
          <a:xfrm>
            <a:off x="1097280" y="4443840"/>
            <a:ext cx="4297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6b7280"/>
                </a:solidFill>
                <a:latin typeface="Calibri"/>
                <a:ea typeface="Calibri"/>
              </a:rPr>
              <a:t>512 reviews</a:t>
            </a:r>
            <a:endParaRPr b="0" lang="en-US" sz="1050" spc="-1" strike="noStrike">
              <a:solidFill>
                <a:srgbClr val="000000"/>
              </a:solidFill>
              <a:latin typeface="Arial"/>
            </a:endParaRPr>
          </a:p>
        </p:txBody>
      </p:sp>
      <p:sp>
        <p:nvSpPr>
          <p:cNvPr id="62" name="Shape 6"/>
          <p:cNvSpPr/>
          <p:nvPr/>
        </p:nvSpPr>
        <p:spPr>
          <a:xfrm>
            <a:off x="1645920" y="4827960"/>
            <a:ext cx="3200400" cy="360"/>
          </a:xfrm>
          <a:prstGeom prst="line">
            <a:avLst/>
          </a:prstGeom>
          <a:ln w="12700">
            <a:solidFill>
              <a:srgbClr val="dadee8"/>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ndParaRPr>
          </a:p>
        </p:txBody>
      </p:sp>
      <p:sp>
        <p:nvSpPr>
          <p:cNvPr id="63" name="Text 7"/>
          <p:cNvSpPr/>
          <p:nvPr/>
        </p:nvSpPr>
        <p:spPr>
          <a:xfrm>
            <a:off x="1097280" y="4956120"/>
            <a:ext cx="4297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50" spc="-1" strike="noStrike">
                <a:solidFill>
                  <a:srgbClr val="6b7280"/>
                </a:solidFill>
                <a:latin typeface="Calibri"/>
                <a:ea typeface="Calibri"/>
              </a:rPr>
              <a:t>Distortion:  </a:t>
            </a:r>
            <a:r>
              <a:rPr b="1" lang="en-US" sz="1250" spc="-1" strike="noStrike">
                <a:solidFill>
                  <a:srgbClr val="1b1f3b"/>
                </a:solidFill>
                <a:latin typeface="Calibri"/>
                <a:ea typeface="Calibri"/>
              </a:rPr>
              <a:t>0.8%</a:t>
            </a:r>
            <a:endParaRPr b="0" lang="en-US" sz="1250" spc="-1" strike="noStrike">
              <a:solidFill>
                <a:srgbClr val="000000"/>
              </a:solidFill>
              <a:latin typeface="Arial"/>
            </a:endParaRPr>
          </a:p>
        </p:txBody>
      </p:sp>
      <p:sp>
        <p:nvSpPr>
          <p:cNvPr id="64" name="Text 8"/>
          <p:cNvSpPr/>
          <p:nvPr/>
        </p:nvSpPr>
        <p:spPr>
          <a:xfrm>
            <a:off x="1371600" y="5230440"/>
            <a:ext cx="37486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000" spc="-1" strike="noStrike">
                <a:solidFill>
                  <a:srgbClr val="6b7280"/>
                </a:solidFill>
                <a:latin typeface="Calibri"/>
                <a:ea typeface="Calibri"/>
              </a:rPr>
              <a:t>Higher distortion (lower fidelity)</a:t>
            </a:r>
            <a:endParaRPr b="0" lang="en-US" sz="1000" spc="-1" strike="noStrike">
              <a:solidFill>
                <a:srgbClr val="000000"/>
              </a:solidFill>
              <a:latin typeface="Arial"/>
            </a:endParaRPr>
          </a:p>
        </p:txBody>
      </p:sp>
      <p:sp>
        <p:nvSpPr>
          <p:cNvPr id="65" name="Shape 9"/>
          <p:cNvSpPr/>
          <p:nvPr/>
        </p:nvSpPr>
        <p:spPr>
          <a:xfrm>
            <a:off x="6035040" y="1554480"/>
            <a:ext cx="4297320" cy="4205880"/>
          </a:xfrm>
          <a:prstGeom prst="roundRect">
            <a:avLst>
              <a:gd name="adj" fmla="val 304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66" name="Image 2" descr="/home/claude/deck/halcyon_new_trim.png"/>
          <p:cNvPicPr/>
          <p:nvPr/>
        </p:nvPicPr>
        <p:blipFill>
          <a:blip r:embed="rId3"/>
          <a:stretch/>
        </p:blipFill>
        <p:spPr>
          <a:xfrm>
            <a:off x="6400800" y="1886040"/>
            <a:ext cx="3565800" cy="1439640"/>
          </a:xfrm>
          <a:prstGeom prst="rect">
            <a:avLst/>
          </a:prstGeom>
          <a:ln w="0">
            <a:noFill/>
          </a:ln>
        </p:spPr>
      </p:pic>
      <p:sp>
        <p:nvSpPr>
          <p:cNvPr id="67" name="Text 10"/>
          <p:cNvSpPr/>
          <p:nvPr/>
        </p:nvSpPr>
        <p:spPr>
          <a:xfrm>
            <a:off x="6035040" y="3703320"/>
            <a:ext cx="42973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900" spc="-1" strike="noStrike">
                <a:solidFill>
                  <a:srgbClr val="1b1f3b"/>
                </a:solidFill>
                <a:latin typeface="Cambria"/>
                <a:ea typeface="Cambria"/>
              </a:rPr>
              <a:t>Halcyon Sound</a:t>
            </a:r>
            <a:endParaRPr b="0" lang="en-US" sz="1900" spc="-1" strike="noStrike">
              <a:solidFill>
                <a:srgbClr val="000000"/>
              </a:solidFill>
              <a:latin typeface="Arial"/>
            </a:endParaRPr>
          </a:p>
        </p:txBody>
      </p:sp>
      <p:pic>
        <p:nvPicPr>
          <p:cNvPr id="68" name="Image 3" descr="/home/claude/deck/stars_4_1.png"/>
          <p:cNvPicPr/>
          <p:nvPr/>
        </p:nvPicPr>
        <p:blipFill>
          <a:blip r:embed="rId4"/>
          <a:stretch/>
        </p:blipFill>
        <p:spPr>
          <a:xfrm>
            <a:off x="7328880" y="4187880"/>
            <a:ext cx="1051200" cy="209880"/>
          </a:xfrm>
          <a:prstGeom prst="rect">
            <a:avLst/>
          </a:prstGeom>
          <a:ln w="0">
            <a:noFill/>
          </a:ln>
        </p:spPr>
      </p:pic>
      <p:sp>
        <p:nvSpPr>
          <p:cNvPr id="69" name="Text 11"/>
          <p:cNvSpPr/>
          <p:nvPr/>
        </p:nvSpPr>
        <p:spPr>
          <a:xfrm>
            <a:off x="8490240" y="4133160"/>
            <a:ext cx="548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4b400"/>
                </a:solidFill>
                <a:latin typeface="Calibri"/>
                <a:ea typeface="Calibri"/>
              </a:rPr>
              <a:t>4.1</a:t>
            </a:r>
            <a:endParaRPr b="0" lang="en-US" sz="1500" spc="-1" strike="noStrike">
              <a:solidFill>
                <a:srgbClr val="000000"/>
              </a:solidFill>
              <a:latin typeface="Arial"/>
            </a:endParaRPr>
          </a:p>
        </p:txBody>
      </p:sp>
      <p:sp>
        <p:nvSpPr>
          <p:cNvPr id="70" name="Text 12"/>
          <p:cNvSpPr/>
          <p:nvPr/>
        </p:nvSpPr>
        <p:spPr>
          <a:xfrm>
            <a:off x="6035040" y="4443840"/>
            <a:ext cx="4297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6b7280"/>
                </a:solidFill>
                <a:latin typeface="Calibri"/>
                <a:ea typeface="Calibri"/>
              </a:rPr>
              <a:t>512 reviews</a:t>
            </a:r>
            <a:endParaRPr b="0" lang="en-US" sz="1050" spc="-1" strike="noStrike">
              <a:solidFill>
                <a:srgbClr val="000000"/>
              </a:solidFill>
              <a:latin typeface="Arial"/>
            </a:endParaRPr>
          </a:p>
        </p:txBody>
      </p:sp>
      <p:sp>
        <p:nvSpPr>
          <p:cNvPr id="71" name="Shape 13"/>
          <p:cNvSpPr/>
          <p:nvPr/>
        </p:nvSpPr>
        <p:spPr>
          <a:xfrm>
            <a:off x="6583680" y="4827960"/>
            <a:ext cx="3200400" cy="360"/>
          </a:xfrm>
          <a:prstGeom prst="line">
            <a:avLst/>
          </a:prstGeom>
          <a:ln w="12700">
            <a:solidFill>
              <a:srgbClr val="dadee8"/>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ndParaRPr>
          </a:p>
        </p:txBody>
      </p:sp>
      <p:sp>
        <p:nvSpPr>
          <p:cNvPr id="72" name="Text 14"/>
          <p:cNvSpPr/>
          <p:nvPr/>
        </p:nvSpPr>
        <p:spPr>
          <a:xfrm>
            <a:off x="6035040" y="4956120"/>
            <a:ext cx="4297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50" spc="-1" strike="noStrike">
                <a:solidFill>
                  <a:srgbClr val="6b7280"/>
                </a:solidFill>
                <a:latin typeface="Calibri"/>
                <a:ea typeface="Calibri"/>
              </a:rPr>
              <a:t>Distortion:  </a:t>
            </a:r>
            <a:r>
              <a:rPr b="1" lang="en-US" sz="1250" spc="-1" strike="noStrike">
                <a:solidFill>
                  <a:srgbClr val="1b1f3b"/>
                </a:solidFill>
                <a:latin typeface="Calibri"/>
                <a:ea typeface="Calibri"/>
              </a:rPr>
              <a:t>0.3%</a:t>
            </a:r>
            <a:endParaRPr b="0" lang="en-US" sz="1250" spc="-1" strike="noStrike">
              <a:solidFill>
                <a:srgbClr val="000000"/>
              </a:solidFill>
              <a:latin typeface="Arial"/>
            </a:endParaRPr>
          </a:p>
        </p:txBody>
      </p:sp>
      <p:sp>
        <p:nvSpPr>
          <p:cNvPr id="73" name="Text 15"/>
          <p:cNvSpPr/>
          <p:nvPr/>
        </p:nvSpPr>
        <p:spPr>
          <a:xfrm>
            <a:off x="6309360" y="5230440"/>
            <a:ext cx="37486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000" spc="-1" strike="noStrike">
                <a:solidFill>
                  <a:srgbClr val="6b7280"/>
                </a:solidFill>
                <a:latin typeface="Calibri"/>
                <a:ea typeface="Calibri"/>
              </a:rPr>
              <a:t>Superior, but hard to judge alone</a:t>
            </a:r>
            <a:endParaRPr b="0" lang="en-US" sz="1000" spc="-1" strike="noStrike">
              <a:solidFill>
                <a:srgbClr val="000000"/>
              </a:solidFill>
              <a:latin typeface="Arial"/>
            </a:endParaRPr>
          </a:p>
        </p:txBody>
      </p:sp>
      <p:pic>
        <p:nvPicPr>
          <p:cNvPr id="74" name="Image 4" descr="/home/claude/deck/icon_balance_navy.png"/>
          <p:cNvPicPr/>
          <p:nvPr/>
        </p:nvPicPr>
        <p:blipFill>
          <a:blip r:embed="rId5"/>
          <a:stretch/>
        </p:blipFill>
        <p:spPr>
          <a:xfrm>
            <a:off x="5440680" y="3383280"/>
            <a:ext cx="548280" cy="548280"/>
          </a:xfrm>
          <a:prstGeom prst="rect">
            <a:avLst/>
          </a:prstGeom>
          <a:ln w="0">
            <a:noFill/>
          </a:ln>
        </p:spPr>
      </p:pic>
      <p:sp>
        <p:nvSpPr>
          <p:cNvPr id="75" name="Text 16"/>
          <p:cNvSpPr/>
          <p:nvPr/>
        </p:nvSpPr>
        <p:spPr>
          <a:xfrm>
            <a:off x="548640" y="5989320"/>
            <a:ext cx="110638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00" spc="-1" strike="noStrike">
                <a:solidFill>
                  <a:srgbClr val="6b7280"/>
                </a:solidFill>
                <a:latin typeface="Calibri"/>
                <a:ea typeface="Calibri"/>
              </a:rPr>
              <a:t>H1: Verve (better rating) earns a higher price when each speaker is seen alone; Halcyon (lower distortion) earns more when both are seen together. Review counts are identical (512) and brand names are fictional.</a:t>
            </a:r>
            <a:endParaRPr b="0" lang="en-US" sz="1100" spc="-1" strike="noStrike">
              <a:solidFill>
                <a:srgbClr val="000000"/>
              </a:solidFill>
              <a:latin typeface="Arial"/>
            </a:endParaRPr>
          </a:p>
        </p:txBody>
      </p:sp>
      <p:sp>
        <p:nvSpPr>
          <p:cNvPr id="76" name="Text 17"/>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77" name="Text 18"/>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3</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9"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1: SAMPLE AND PROCEDURE</a:t>
            </a:r>
            <a:endParaRPr b="0" lang="en-US" sz="1200" spc="-1" strike="noStrike">
              <a:solidFill>
                <a:srgbClr val="000000"/>
              </a:solidFill>
              <a:latin typeface="Arial"/>
            </a:endParaRPr>
          </a:p>
        </p:txBody>
      </p:sp>
      <p:sp>
        <p:nvSpPr>
          <p:cNvPr id="170"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Who Took Part, and How</a:t>
            </a:r>
            <a:endParaRPr b="0" lang="en-US" sz="3000" spc="-1" strike="noStrike">
              <a:solidFill>
                <a:srgbClr val="000000"/>
              </a:solidFill>
              <a:latin typeface="Arial"/>
            </a:endParaRPr>
          </a:p>
        </p:txBody>
      </p:sp>
      <p:sp>
        <p:nvSpPr>
          <p:cNvPr id="171" name="Shape 2"/>
          <p:cNvSpPr/>
          <p:nvPr/>
        </p:nvSpPr>
        <p:spPr>
          <a:xfrm>
            <a:off x="548640" y="1691640"/>
            <a:ext cx="2605680" cy="3382920"/>
          </a:xfrm>
          <a:prstGeom prst="roundRect">
            <a:avLst>
              <a:gd name="adj" fmla="val 4211"/>
            </a:avLst>
          </a:prstGeom>
          <a:solidFill>
            <a:srgbClr val="f6f7fa"/>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2" name="Shape 3"/>
          <p:cNvSpPr/>
          <p:nvPr/>
        </p:nvSpPr>
        <p:spPr>
          <a:xfrm>
            <a:off x="1486080" y="2011680"/>
            <a:ext cx="731160" cy="7311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73" name="Image 0" descr="/home/claude/deck/icon_users.png"/>
          <p:cNvPicPr/>
          <p:nvPr/>
        </p:nvPicPr>
        <p:blipFill>
          <a:blip r:embed="rId1"/>
          <a:stretch/>
        </p:blipFill>
        <p:spPr>
          <a:xfrm>
            <a:off x="1581120" y="2106720"/>
            <a:ext cx="541080" cy="541080"/>
          </a:xfrm>
          <a:prstGeom prst="rect">
            <a:avLst/>
          </a:prstGeom>
          <a:ln w="0">
            <a:noFill/>
          </a:ln>
        </p:spPr>
      </p:pic>
      <p:sp>
        <p:nvSpPr>
          <p:cNvPr id="174" name="Text 4"/>
          <p:cNvSpPr/>
          <p:nvPr/>
        </p:nvSpPr>
        <p:spPr>
          <a:xfrm>
            <a:off x="731520" y="2926080"/>
            <a:ext cx="22399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1b1f3b"/>
                </a:solidFill>
                <a:latin typeface="Calibri"/>
                <a:ea typeface="Calibri"/>
              </a:rPr>
              <a:t>1.  Who</a:t>
            </a:r>
            <a:endParaRPr b="0" lang="en-US" sz="1350" spc="-1" strike="noStrike">
              <a:solidFill>
                <a:srgbClr val="000000"/>
              </a:solidFill>
              <a:latin typeface="Arial"/>
            </a:endParaRPr>
          </a:p>
        </p:txBody>
      </p:sp>
      <p:sp>
        <p:nvSpPr>
          <p:cNvPr id="175" name="Text 5"/>
          <p:cNvSpPr/>
          <p:nvPr/>
        </p:nvSpPr>
        <p:spPr>
          <a:xfrm>
            <a:off x="777240" y="3383280"/>
            <a:ext cx="2148480" cy="1554120"/>
          </a:xfrm>
          <a:prstGeom prst="rect">
            <a:avLst/>
          </a:prstGeom>
          <a:noFill/>
          <a:ln w="0">
            <a:noFill/>
          </a:ln>
        </p:spPr>
        <p:style>
          <a:lnRef idx="0"/>
          <a:fillRef idx="0"/>
          <a:effectRef idx="0"/>
          <a:fontRef idx="minor"/>
        </p:style>
        <p:txBody>
          <a:bodyPr lIns="0" rIns="0" tIns="0" bIns="0" anchor="ctr">
            <a:noAutofit/>
          </a:bodyPr>
          <a:p>
            <a:pPr algn="ctr" defTabSz="914400">
              <a:lnSpc>
                <a:spcPct val="120000"/>
              </a:lnSpc>
              <a:tabLst>
                <a:tab algn="l" pos="0"/>
              </a:tabLst>
            </a:pPr>
            <a:r>
              <a:rPr b="0" lang="en-US" sz="1100" spc="-1" strike="noStrike">
                <a:solidFill>
                  <a:srgbClr val="1b1f3b"/>
                </a:solidFill>
                <a:latin typeface="Calibri"/>
                <a:ea typeface="Calibri"/>
              </a:rPr>
              <a:t>111 respondents: 68% students, 32% non-students. Mostly aged 18 to 34; 57 men, 54 women.</a:t>
            </a:r>
            <a:endParaRPr b="0" lang="en-US" sz="1100" spc="-1" strike="noStrike">
              <a:solidFill>
                <a:srgbClr val="000000"/>
              </a:solidFill>
              <a:latin typeface="Arial"/>
            </a:endParaRPr>
          </a:p>
        </p:txBody>
      </p:sp>
      <p:sp>
        <p:nvSpPr>
          <p:cNvPr id="176" name="Shape 6"/>
          <p:cNvSpPr/>
          <p:nvPr/>
        </p:nvSpPr>
        <p:spPr>
          <a:xfrm>
            <a:off x="3172680" y="3383280"/>
            <a:ext cx="219600" cy="360"/>
          </a:xfrm>
          <a:prstGeom prst="line">
            <a:avLst/>
          </a:prstGeom>
          <a:ln w="19050">
            <a:solidFill>
              <a:srgbClr val="c7cce8"/>
            </a:solidFill>
            <a:prstDash val="dash"/>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ndParaRPr>
          </a:p>
        </p:txBody>
      </p:sp>
      <p:sp>
        <p:nvSpPr>
          <p:cNvPr id="177" name="Shape 7"/>
          <p:cNvSpPr/>
          <p:nvPr/>
        </p:nvSpPr>
        <p:spPr>
          <a:xfrm>
            <a:off x="3410640" y="1691640"/>
            <a:ext cx="2605680" cy="3382920"/>
          </a:xfrm>
          <a:prstGeom prst="roundRect">
            <a:avLst>
              <a:gd name="adj" fmla="val 4211"/>
            </a:avLst>
          </a:prstGeom>
          <a:solidFill>
            <a:srgbClr val="f6f7fa"/>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8" name="Shape 8"/>
          <p:cNvSpPr/>
          <p:nvPr/>
        </p:nvSpPr>
        <p:spPr>
          <a:xfrm>
            <a:off x="4348080" y="2011680"/>
            <a:ext cx="731160" cy="7311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79" name="Image 1" descr="/home/claude/deck/icon_clipboard.png"/>
          <p:cNvPicPr/>
          <p:nvPr/>
        </p:nvPicPr>
        <p:blipFill>
          <a:blip r:embed="rId2"/>
          <a:stretch/>
        </p:blipFill>
        <p:spPr>
          <a:xfrm>
            <a:off x="4443120" y="2106720"/>
            <a:ext cx="541080" cy="541080"/>
          </a:xfrm>
          <a:prstGeom prst="rect">
            <a:avLst/>
          </a:prstGeom>
          <a:ln w="0">
            <a:noFill/>
          </a:ln>
        </p:spPr>
      </p:pic>
      <p:sp>
        <p:nvSpPr>
          <p:cNvPr id="180" name="Text 9"/>
          <p:cNvSpPr/>
          <p:nvPr/>
        </p:nvSpPr>
        <p:spPr>
          <a:xfrm>
            <a:off x="3593520" y="2926080"/>
            <a:ext cx="22399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1b1f3b"/>
                </a:solidFill>
                <a:latin typeface="Calibri"/>
                <a:ea typeface="Calibri"/>
              </a:rPr>
              <a:t>2.  Where</a:t>
            </a:r>
            <a:endParaRPr b="0" lang="en-US" sz="1350" spc="-1" strike="noStrike">
              <a:solidFill>
                <a:srgbClr val="000000"/>
              </a:solidFill>
              <a:latin typeface="Arial"/>
            </a:endParaRPr>
          </a:p>
        </p:txBody>
      </p:sp>
      <p:sp>
        <p:nvSpPr>
          <p:cNvPr id="181" name="Text 10"/>
          <p:cNvSpPr/>
          <p:nvPr/>
        </p:nvSpPr>
        <p:spPr>
          <a:xfrm>
            <a:off x="3639240" y="3383280"/>
            <a:ext cx="2148480" cy="1554120"/>
          </a:xfrm>
          <a:prstGeom prst="rect">
            <a:avLst/>
          </a:prstGeom>
          <a:noFill/>
          <a:ln w="0">
            <a:noFill/>
          </a:ln>
        </p:spPr>
        <p:style>
          <a:lnRef idx="0"/>
          <a:fillRef idx="0"/>
          <a:effectRef idx="0"/>
          <a:fontRef idx="minor"/>
        </p:style>
        <p:txBody>
          <a:bodyPr lIns="0" rIns="0" tIns="0" bIns="0" anchor="ctr">
            <a:noAutofit/>
          </a:bodyPr>
          <a:p>
            <a:pPr algn="ctr" defTabSz="914400">
              <a:lnSpc>
                <a:spcPct val="120000"/>
              </a:lnSpc>
              <a:tabLst>
                <a:tab algn="l" pos="0"/>
              </a:tabLst>
            </a:pPr>
            <a:r>
              <a:rPr b="0" lang="en-US" sz="1100" spc="-1" strike="noStrike">
                <a:solidFill>
                  <a:srgbClr val="1b1f3b"/>
                </a:solidFill>
                <a:latin typeface="Calibri"/>
                <a:ea typeface="Calibri"/>
              </a:rPr>
              <a:t>Nine countries: US (49), India (33), Zimbabwe (15), South Africa (8), plus UK, Ghana, Rwanda, Uruguay, Vietnam.</a:t>
            </a:r>
            <a:endParaRPr b="0" lang="en-US" sz="1100" spc="-1" strike="noStrike">
              <a:solidFill>
                <a:srgbClr val="000000"/>
              </a:solidFill>
              <a:latin typeface="Arial"/>
            </a:endParaRPr>
          </a:p>
        </p:txBody>
      </p:sp>
      <p:sp>
        <p:nvSpPr>
          <p:cNvPr id="182" name="Shape 11"/>
          <p:cNvSpPr/>
          <p:nvPr/>
        </p:nvSpPr>
        <p:spPr>
          <a:xfrm>
            <a:off x="6035040" y="3383280"/>
            <a:ext cx="219240" cy="360"/>
          </a:xfrm>
          <a:prstGeom prst="line">
            <a:avLst/>
          </a:prstGeom>
          <a:ln w="19050">
            <a:solidFill>
              <a:srgbClr val="c7cce8"/>
            </a:solidFill>
            <a:prstDash val="dash"/>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ndParaRPr>
          </a:p>
        </p:txBody>
      </p:sp>
      <p:sp>
        <p:nvSpPr>
          <p:cNvPr id="183" name="Shape 12"/>
          <p:cNvSpPr/>
          <p:nvPr/>
        </p:nvSpPr>
        <p:spPr>
          <a:xfrm>
            <a:off x="6272640" y="1691640"/>
            <a:ext cx="2605680" cy="3382920"/>
          </a:xfrm>
          <a:prstGeom prst="roundRect">
            <a:avLst>
              <a:gd name="adj" fmla="val 4211"/>
            </a:avLst>
          </a:prstGeom>
          <a:solidFill>
            <a:srgbClr val="f6f7fa"/>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4" name="Shape 13"/>
          <p:cNvSpPr/>
          <p:nvPr/>
        </p:nvSpPr>
        <p:spPr>
          <a:xfrm>
            <a:off x="7210080" y="2011680"/>
            <a:ext cx="731160" cy="7311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85" name="Image 2" descr="/home/claude/deck/icon_search.png"/>
          <p:cNvPicPr/>
          <p:nvPr/>
        </p:nvPicPr>
        <p:blipFill>
          <a:blip r:embed="rId3"/>
          <a:stretch/>
        </p:blipFill>
        <p:spPr>
          <a:xfrm>
            <a:off x="7305120" y="2106720"/>
            <a:ext cx="541080" cy="541080"/>
          </a:xfrm>
          <a:prstGeom prst="rect">
            <a:avLst/>
          </a:prstGeom>
          <a:ln w="0">
            <a:noFill/>
          </a:ln>
        </p:spPr>
      </p:pic>
      <p:sp>
        <p:nvSpPr>
          <p:cNvPr id="186" name="Text 14"/>
          <p:cNvSpPr/>
          <p:nvPr/>
        </p:nvSpPr>
        <p:spPr>
          <a:xfrm>
            <a:off x="6455520" y="2926080"/>
            <a:ext cx="22399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1b1f3b"/>
                </a:solidFill>
                <a:latin typeface="Calibri"/>
                <a:ea typeface="Calibri"/>
              </a:rPr>
              <a:t>3.  How</a:t>
            </a:r>
            <a:endParaRPr b="0" lang="en-US" sz="1350" spc="-1" strike="noStrike">
              <a:solidFill>
                <a:srgbClr val="000000"/>
              </a:solidFill>
              <a:latin typeface="Arial"/>
            </a:endParaRPr>
          </a:p>
        </p:txBody>
      </p:sp>
      <p:sp>
        <p:nvSpPr>
          <p:cNvPr id="187" name="Text 15"/>
          <p:cNvSpPr/>
          <p:nvPr/>
        </p:nvSpPr>
        <p:spPr>
          <a:xfrm>
            <a:off x="6501240" y="3383280"/>
            <a:ext cx="2148480" cy="1554120"/>
          </a:xfrm>
          <a:prstGeom prst="rect">
            <a:avLst/>
          </a:prstGeom>
          <a:noFill/>
          <a:ln w="0">
            <a:noFill/>
          </a:ln>
        </p:spPr>
        <p:style>
          <a:lnRef idx="0"/>
          <a:fillRef idx="0"/>
          <a:effectRef idx="0"/>
          <a:fontRef idx="minor"/>
        </p:style>
        <p:txBody>
          <a:bodyPr lIns="0" rIns="0" tIns="0" bIns="0" anchor="ctr">
            <a:noAutofit/>
          </a:bodyPr>
          <a:p>
            <a:pPr algn="ctr" defTabSz="914400">
              <a:lnSpc>
                <a:spcPct val="120000"/>
              </a:lnSpc>
              <a:tabLst>
                <a:tab algn="l" pos="0"/>
              </a:tabLst>
            </a:pPr>
            <a:r>
              <a:rPr b="0" lang="en-US" sz="1100" spc="-1" strike="noStrike">
                <a:solidFill>
                  <a:srgbClr val="1b1f3b"/>
                </a:solidFill>
                <a:latin typeface="Calibri"/>
                <a:ea typeface="Calibri"/>
              </a:rPr>
              <a:t>Online Google Forms. Each of five members split contacts across all four forms; each person saw only one.</a:t>
            </a:r>
            <a:endParaRPr b="0" lang="en-US" sz="1100" spc="-1" strike="noStrike">
              <a:solidFill>
                <a:srgbClr val="000000"/>
              </a:solidFill>
              <a:latin typeface="Arial"/>
            </a:endParaRPr>
          </a:p>
        </p:txBody>
      </p:sp>
      <p:sp>
        <p:nvSpPr>
          <p:cNvPr id="188" name="Shape 16"/>
          <p:cNvSpPr/>
          <p:nvPr/>
        </p:nvSpPr>
        <p:spPr>
          <a:xfrm>
            <a:off x="8897040" y="3383280"/>
            <a:ext cx="219240" cy="360"/>
          </a:xfrm>
          <a:prstGeom prst="line">
            <a:avLst/>
          </a:prstGeom>
          <a:ln w="19050">
            <a:solidFill>
              <a:srgbClr val="c7cce8"/>
            </a:solidFill>
            <a:prstDash val="dash"/>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ndParaRPr>
          </a:p>
        </p:txBody>
      </p:sp>
      <p:sp>
        <p:nvSpPr>
          <p:cNvPr id="189" name="Shape 17"/>
          <p:cNvSpPr/>
          <p:nvPr/>
        </p:nvSpPr>
        <p:spPr>
          <a:xfrm>
            <a:off x="9135000" y="1691640"/>
            <a:ext cx="2605680" cy="3382920"/>
          </a:xfrm>
          <a:prstGeom prst="roundRect">
            <a:avLst>
              <a:gd name="adj" fmla="val 4211"/>
            </a:avLst>
          </a:prstGeom>
          <a:solidFill>
            <a:srgbClr val="f6f7fa"/>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0" name="Shape 18"/>
          <p:cNvSpPr/>
          <p:nvPr/>
        </p:nvSpPr>
        <p:spPr>
          <a:xfrm>
            <a:off x="10072080" y="2011680"/>
            <a:ext cx="731160" cy="7311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91" name="Image 3" descr="/home/claude/deck/icon_question.png"/>
          <p:cNvPicPr/>
          <p:nvPr/>
        </p:nvPicPr>
        <p:blipFill>
          <a:blip r:embed="rId4"/>
          <a:stretch/>
        </p:blipFill>
        <p:spPr>
          <a:xfrm>
            <a:off x="10167120" y="2106720"/>
            <a:ext cx="541080" cy="541080"/>
          </a:xfrm>
          <a:prstGeom prst="rect">
            <a:avLst/>
          </a:prstGeom>
          <a:ln w="0">
            <a:noFill/>
          </a:ln>
        </p:spPr>
      </p:pic>
      <p:sp>
        <p:nvSpPr>
          <p:cNvPr id="192" name="Text 19"/>
          <p:cNvSpPr/>
          <p:nvPr/>
        </p:nvSpPr>
        <p:spPr>
          <a:xfrm>
            <a:off x="9317880" y="2926080"/>
            <a:ext cx="22399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1b1f3b"/>
                </a:solidFill>
                <a:latin typeface="Calibri"/>
                <a:ea typeface="Calibri"/>
              </a:rPr>
              <a:t>4.  Groups</a:t>
            </a:r>
            <a:endParaRPr b="0" lang="en-US" sz="1350" spc="-1" strike="noStrike">
              <a:solidFill>
                <a:srgbClr val="000000"/>
              </a:solidFill>
              <a:latin typeface="Arial"/>
            </a:endParaRPr>
          </a:p>
        </p:txBody>
      </p:sp>
      <p:sp>
        <p:nvSpPr>
          <p:cNvPr id="193" name="Text 20"/>
          <p:cNvSpPr/>
          <p:nvPr/>
        </p:nvSpPr>
        <p:spPr>
          <a:xfrm>
            <a:off x="9363600" y="3383280"/>
            <a:ext cx="2148480" cy="1554120"/>
          </a:xfrm>
          <a:prstGeom prst="rect">
            <a:avLst/>
          </a:prstGeom>
          <a:noFill/>
          <a:ln w="0">
            <a:noFill/>
          </a:ln>
        </p:spPr>
        <p:style>
          <a:lnRef idx="0"/>
          <a:fillRef idx="0"/>
          <a:effectRef idx="0"/>
          <a:fontRef idx="minor"/>
        </p:style>
        <p:txBody>
          <a:bodyPr lIns="0" rIns="0" tIns="0" bIns="0" anchor="ctr">
            <a:noAutofit/>
          </a:bodyPr>
          <a:p>
            <a:pPr algn="ctr" defTabSz="914400">
              <a:lnSpc>
                <a:spcPct val="120000"/>
              </a:lnSpc>
              <a:tabLst>
                <a:tab algn="l" pos="0"/>
              </a:tabLst>
            </a:pPr>
            <a:r>
              <a:rPr b="0" lang="en-US" sz="1100" spc="-1" strike="noStrike">
                <a:solidFill>
                  <a:srgbClr val="1b1f3b"/>
                </a:solidFill>
                <a:latin typeface="Calibri"/>
                <a:ea typeface="Calibri"/>
              </a:rPr>
              <a:t>Verve alone 26 · Halcyon alone 28 · Both together 30 · Both + celebrity 27 (after cleaning).</a:t>
            </a:r>
            <a:endParaRPr b="0" lang="en-US" sz="1100" spc="-1" strike="noStrike">
              <a:solidFill>
                <a:srgbClr val="000000"/>
              </a:solidFill>
              <a:latin typeface="Arial"/>
            </a:endParaRPr>
          </a:p>
        </p:txBody>
      </p:sp>
      <p:sp>
        <p:nvSpPr>
          <p:cNvPr id="194" name="Shape 21"/>
          <p:cNvSpPr/>
          <p:nvPr/>
        </p:nvSpPr>
        <p:spPr>
          <a:xfrm>
            <a:off x="548640" y="5349240"/>
            <a:ext cx="11192040" cy="685440"/>
          </a:xfrm>
          <a:prstGeom prst="roundRect">
            <a:avLst>
              <a:gd name="adj" fmla="val 13333"/>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5" name="Text 22"/>
          <p:cNvSpPr/>
          <p:nvPr/>
        </p:nvSpPr>
        <p:spPr>
          <a:xfrm>
            <a:off x="548640" y="5349240"/>
            <a:ext cx="11192040" cy="685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ea typeface="Calibri"/>
              </a:rPr>
              <a:t>Analysis: independent-samples t-tests in SPSS, plus robustness checks (within-person tests, choice shares, country and student controls)</a:t>
            </a:r>
            <a:endParaRPr b="0" lang="en-US" sz="1250" spc="-1" strike="noStrike">
              <a:solidFill>
                <a:srgbClr val="000000"/>
              </a:solidFill>
              <a:latin typeface="Arial"/>
            </a:endParaRPr>
          </a:p>
        </p:txBody>
      </p:sp>
      <p:sp>
        <p:nvSpPr>
          <p:cNvPr id="196" name="Text 23"/>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197" name="Text 24"/>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4</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MANIPULATION CHECK</a:t>
            </a:r>
            <a:endParaRPr b="0" lang="en-US" sz="1200" spc="-1" strike="noStrike">
              <a:solidFill>
                <a:srgbClr val="000000"/>
              </a:solidFill>
              <a:latin typeface="Arial"/>
            </a:endParaRPr>
          </a:p>
        </p:txBody>
      </p:sp>
      <p:sp>
        <p:nvSpPr>
          <p:cNvPr id="79"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Confirming the Setup Worked, Before Testing Anything Else</a:t>
            </a:r>
            <a:endParaRPr b="0" lang="en-US" sz="3000" spc="-1" strike="noStrike">
              <a:solidFill>
                <a:srgbClr val="000000"/>
              </a:solidFill>
              <a:latin typeface="Arial"/>
            </a:endParaRPr>
          </a:p>
        </p:txBody>
      </p:sp>
      <p:sp>
        <p:nvSpPr>
          <p:cNvPr id="80" name="Text 23"/>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81" name="Text 24"/>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5</a:t>
            </a:r>
            <a:endParaRPr b="0" lang="en-US" sz="900" spc="-1" strike="noStrike">
              <a:solidFill>
                <a:srgbClr val="000000"/>
              </a:solidFill>
              <a:latin typeface="Arial"/>
            </a:endParaRPr>
          </a:p>
        </p:txBody>
      </p:sp>
      <p:sp>
        <p:nvSpPr>
          <p:cNvPr id="82" name="TextBox 30"/>
          <p:cNvSpPr/>
          <p:nvPr/>
        </p:nvSpPr>
        <p:spPr>
          <a:xfrm>
            <a:off x="548640" y="1691640"/>
            <a:ext cx="10240920" cy="699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000" spc="-1" strike="noStrike">
                <a:solidFill>
                  <a:srgbClr val="1b1f3b"/>
                </a:solidFill>
                <a:latin typeface="Calibri"/>
              </a:rPr>
              <a:t>Hsee's design depends on one attribute being easy to judge alone and the other hard. Before testing either hypothesis, we checked that our two attributes actually behaved that way.</a:t>
            </a:r>
            <a:endParaRPr b="0" lang="en-US" sz="2000" spc="-1" strike="noStrike">
              <a:solidFill>
                <a:srgbClr val="000000"/>
              </a:solidFill>
              <a:latin typeface="Arial"/>
            </a:endParaRPr>
          </a:p>
        </p:txBody>
      </p:sp>
      <p:sp>
        <p:nvSpPr>
          <p:cNvPr id="83" name="Rectangle 32"/>
          <p:cNvSpPr/>
          <p:nvPr/>
        </p:nvSpPr>
        <p:spPr>
          <a:xfrm>
            <a:off x="548640" y="5640000"/>
            <a:ext cx="11155320" cy="621360"/>
          </a:xfrm>
          <a:prstGeom prst="rect">
            <a:avLst/>
          </a:prstGeom>
          <a:solidFill>
            <a:srgbClr val="1215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Calibri"/>
              </a:rPr>
              <a:t>The design worked as intended: stars were easy to judge alone and distortion was hard, before either hypothesis was tested.</a:t>
            </a:r>
            <a:endParaRPr b="0" lang="en-US" sz="1500" spc="-1" strike="noStrike">
              <a:solidFill>
                <a:srgbClr val="ffffff"/>
              </a:solidFill>
              <a:latin typeface="Arial"/>
            </a:endParaRPr>
          </a:p>
        </p:txBody>
      </p:sp>
      <p:sp>
        <p:nvSpPr>
          <p:cNvPr id="84" name="Rectangle 33"/>
          <p:cNvSpPr/>
          <p:nvPr/>
        </p:nvSpPr>
        <p:spPr>
          <a:xfrm>
            <a:off x="548640" y="2697480"/>
            <a:ext cx="5348880" cy="2720000"/>
          </a:xfrm>
          <a:prstGeom prst="rect">
            <a:avLst/>
          </a:prstGeom>
          <a:solidFill>
            <a:srgbClr val="f6f7fa"/>
          </a:solidFill>
          <a:ln w="9525">
            <a:solidFill>
              <a:srgbClr val="dadf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5" name="Shape 4"/>
          <p:cNvSpPr/>
          <p:nvPr/>
        </p:nvSpPr>
        <p:spPr>
          <a:xfrm>
            <a:off x="768960" y="2917800"/>
            <a:ext cx="765720" cy="765720"/>
          </a:xfrm>
          <a:prstGeom prst="ellipse">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86" name="Image 0" descr="/home/claude/deck/icon_star_gold.png"/>
          <p:cNvPicPr/>
          <p:nvPr/>
        </p:nvPicPr>
        <p:blipFill>
          <a:blip r:embed="rId1"/>
          <a:stretch/>
        </p:blipFill>
        <p:spPr>
          <a:xfrm>
            <a:off x="868680" y="3017520"/>
            <a:ext cx="566640" cy="566640"/>
          </a:xfrm>
          <a:prstGeom prst="rect">
            <a:avLst/>
          </a:prstGeom>
          <a:ln w="0">
            <a:noFill/>
          </a:ln>
        </p:spPr>
      </p:pic>
      <p:sp>
        <p:nvSpPr>
          <p:cNvPr id="87" name="Rectangle 36"/>
          <p:cNvSpPr/>
          <p:nvPr/>
        </p:nvSpPr>
        <p:spPr>
          <a:xfrm>
            <a:off x="6355080" y="2697480"/>
            <a:ext cx="5348880" cy="2720000"/>
          </a:xfrm>
          <a:prstGeom prst="rect">
            <a:avLst/>
          </a:prstGeom>
          <a:solidFill>
            <a:srgbClr val="f6f7fa"/>
          </a:solidFill>
          <a:ln w="9525">
            <a:solidFill>
              <a:srgbClr val="dadf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 name="Shape 9"/>
          <p:cNvSpPr/>
          <p:nvPr/>
        </p:nvSpPr>
        <p:spPr>
          <a:xfrm>
            <a:off x="6575400" y="2917800"/>
            <a:ext cx="765720" cy="76572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89" name="Image 1" descr="/home/claude/deck/icon_question.png"/>
          <p:cNvPicPr/>
          <p:nvPr/>
        </p:nvPicPr>
        <p:blipFill>
          <a:blip r:embed="rId2"/>
          <a:stretch/>
        </p:blipFill>
        <p:spPr>
          <a:xfrm>
            <a:off x="6675120" y="3017520"/>
            <a:ext cx="566640" cy="566640"/>
          </a:xfrm>
          <a:prstGeom prst="rect">
            <a:avLst/>
          </a:prstGeom>
          <a:ln w="0">
            <a:noFill/>
          </a:ln>
        </p:spPr>
      </p:pic>
      <p:sp>
        <p:nvSpPr>
          <p:cNvPr id="90" name="HeaderFix"/>
          <p:cNvSpPr/>
          <p:nvPr/>
        </p:nvSpPr>
        <p:spPr>
          <a:xfrm>
            <a:off x="1737360" y="3108960"/>
            <a:ext cx="3885840" cy="288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300" spc="97" strike="noStrike">
                <a:solidFill>
                  <a:srgbClr val="1b1f3b"/>
                </a:solidFill>
                <a:latin typeface="Calibri"/>
              </a:rPr>
              <a:t>STAR RATING</a:t>
            </a:r>
            <a:endParaRPr b="0" lang="en-US" sz="1300" spc="-1" strike="noStrike">
              <a:solidFill>
                <a:srgbClr val="000000"/>
              </a:solidFill>
              <a:latin typeface="Arial"/>
            </a:endParaRPr>
          </a:p>
        </p:txBody>
      </p:sp>
      <p:sp>
        <p:nvSpPr>
          <p:cNvPr id="91" name="SubtitleFix"/>
          <p:cNvSpPr/>
          <p:nvPr/>
        </p:nvSpPr>
        <p:spPr>
          <a:xfrm>
            <a:off x="1737360" y="3410640"/>
            <a:ext cx="3885840" cy="25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US" sz="1100" spc="-1" strike="noStrike">
                <a:solidFill>
                  <a:srgbClr val="6b7280"/>
                </a:solidFill>
                <a:latin typeface="Calibri"/>
              </a:rPr>
              <a:t>the easy-to-evaluate attribute</a:t>
            </a:r>
            <a:endParaRPr b="0" lang="en-US" sz="1100" spc="-1" strike="noStrike">
              <a:solidFill>
                <a:srgbClr val="000000"/>
              </a:solidFill>
              <a:latin typeface="Arial"/>
            </a:endParaRPr>
          </a:p>
        </p:txBody>
      </p:sp>
      <p:sp>
        <p:nvSpPr>
          <p:cNvPr id="92" name="BodyFix"/>
          <p:cNvSpPr/>
          <p:nvPr/>
        </p:nvSpPr>
        <p:spPr>
          <a:xfrm>
            <a:off x="914400" y="4023360"/>
            <a:ext cx="4617360" cy="859680"/>
          </a:xfrm>
          <a:prstGeom prst="rect">
            <a:avLst/>
          </a:prstGeom>
          <a:noFill/>
          <a:ln w="0">
            <a:noFill/>
          </a:ln>
        </p:spPr>
        <p:style>
          <a:lnRef idx="0"/>
          <a:fillRef idx="0"/>
          <a:effectRef idx="0"/>
          <a:fontRef idx="minor"/>
        </p:style>
        <p:txBody>
          <a:bodyPr lIns="90000" rIns="90000" tIns="45000" bIns="45000" anchor="t">
            <a:spAutoFit/>
          </a:bodyPr>
          <a:p>
            <a:pPr defTabSz="914400">
              <a:lnSpc>
                <a:spcPct val="125000"/>
              </a:lnSpc>
            </a:pPr>
            <a:r>
              <a:rPr b="0" lang="en-US" sz="1350" spc="-1" strike="noStrike">
                <a:solidFill>
                  <a:srgbClr val="1b1f3b"/>
                </a:solidFill>
                <a:latin typeface="Calibri"/>
              </a:rPr>
              <a:t>Rated clear to judge on its own: mean 3.74 on a 1-to-5 clarity scale. A familiar scale, with no comparison needed.</a:t>
            </a:r>
            <a:endParaRPr b="0" lang="en-US" sz="1350" spc="-1" strike="noStrike">
              <a:solidFill>
                <a:srgbClr val="000000"/>
              </a:solidFill>
              <a:latin typeface="Arial"/>
            </a:endParaRPr>
          </a:p>
        </p:txBody>
      </p:sp>
      <p:sp>
        <p:nvSpPr>
          <p:cNvPr id="93" name="HeaderFix"/>
          <p:cNvSpPr/>
          <p:nvPr/>
        </p:nvSpPr>
        <p:spPr>
          <a:xfrm>
            <a:off x="7543800" y="3108960"/>
            <a:ext cx="3885840" cy="288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300" spc="97" strike="noStrike">
                <a:solidFill>
                  <a:srgbClr val="1b1f3b"/>
                </a:solidFill>
                <a:latin typeface="Calibri"/>
              </a:rPr>
              <a:t>DISTORTION</a:t>
            </a:r>
            <a:endParaRPr b="0" lang="en-US" sz="1300" spc="-1" strike="noStrike">
              <a:solidFill>
                <a:srgbClr val="000000"/>
              </a:solidFill>
              <a:latin typeface="Arial"/>
            </a:endParaRPr>
          </a:p>
        </p:txBody>
      </p:sp>
      <p:sp>
        <p:nvSpPr>
          <p:cNvPr id="94" name="SubtitleFix"/>
          <p:cNvSpPr/>
          <p:nvPr/>
        </p:nvSpPr>
        <p:spPr>
          <a:xfrm>
            <a:off x="7543800" y="3410640"/>
            <a:ext cx="3885840" cy="25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US" sz="1100" spc="-1" strike="noStrike">
                <a:solidFill>
                  <a:srgbClr val="6b7280"/>
                </a:solidFill>
                <a:latin typeface="Calibri"/>
              </a:rPr>
              <a:t>the attribute under test</a:t>
            </a:r>
            <a:endParaRPr b="0" lang="en-US" sz="1100" spc="-1" strike="noStrike">
              <a:solidFill>
                <a:srgbClr val="000000"/>
              </a:solidFill>
              <a:latin typeface="Arial"/>
            </a:endParaRPr>
          </a:p>
        </p:txBody>
      </p:sp>
      <p:sp>
        <p:nvSpPr>
          <p:cNvPr id="95" name="BodyFix"/>
          <p:cNvSpPr/>
          <p:nvPr/>
        </p:nvSpPr>
        <p:spPr>
          <a:xfrm>
            <a:off x="6720840" y="4023360"/>
            <a:ext cx="4617360" cy="859680"/>
          </a:xfrm>
          <a:prstGeom prst="rect">
            <a:avLst/>
          </a:prstGeom>
          <a:noFill/>
          <a:ln w="0">
            <a:noFill/>
          </a:ln>
        </p:spPr>
        <p:style>
          <a:lnRef idx="0"/>
          <a:fillRef idx="0"/>
          <a:effectRef idx="0"/>
          <a:fontRef idx="minor"/>
        </p:style>
        <p:txBody>
          <a:bodyPr lIns="90000" rIns="90000" tIns="45000" bIns="45000" anchor="t">
            <a:spAutoFit/>
          </a:bodyPr>
          <a:p>
            <a:pPr defTabSz="914400">
              <a:lnSpc>
                <a:spcPct val="125000"/>
              </a:lnSpc>
            </a:pPr>
            <a:r>
              <a:rPr b="0" lang="en-US" sz="1350" spc="-1" strike="noStrike">
                <a:solidFill>
                  <a:srgbClr val="1b1f3b"/>
                </a:solidFill>
                <a:latin typeface="Calibri"/>
              </a:rPr>
              <a:t>Rated much harder to judge alone: mean 2.59 vs. 3.74, t(53) = 5.54, p &lt; .001. It worked as the hard-to-evaluate attribute.</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8"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1: RESULTS</a:t>
            </a:r>
            <a:endParaRPr b="0" lang="en-US" sz="1200" spc="-1" strike="noStrike">
              <a:solidFill>
                <a:srgbClr val="000000"/>
              </a:solidFill>
              <a:latin typeface="Arial"/>
            </a:endParaRPr>
          </a:p>
        </p:txBody>
      </p:sp>
      <p:sp>
        <p:nvSpPr>
          <p:cNvPr id="199"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Hypothesis vs. Actual Result</a:t>
            </a:r>
            <a:endParaRPr b="0" lang="en-US" sz="3000" spc="-1" strike="noStrike">
              <a:solidFill>
                <a:srgbClr val="000000"/>
              </a:solidFill>
              <a:latin typeface="Arial"/>
            </a:endParaRPr>
          </a:p>
        </p:txBody>
      </p:sp>
      <p:sp>
        <p:nvSpPr>
          <p:cNvPr id="201" name="Text 7"/>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202" name="Text 8"/>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6</a:t>
            </a:r>
            <a:endParaRPr b="0" lang="en-US" sz="900" spc="-1" strike="noStrike">
              <a:solidFill>
                <a:srgbClr val="000000"/>
              </a:solidFill>
              <a:latin typeface="Arial"/>
            </a:endParaRPr>
          </a:p>
        </p:txBody>
      </p:sp>
      <p:sp>
        <p:nvSpPr>
          <p:cNvPr id="203" name="ChartClarityLabel"/>
          <p:cNvSpPr/>
          <p:nvPr/>
        </p:nvSpPr>
        <p:spPr>
          <a:xfrm>
            <a:off x="548640" y="1501200"/>
            <a:ext cx="6674760" cy="25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100" spc="97" strike="noStrike">
                <a:solidFill>
                  <a:srgbClr val="6b7280"/>
                </a:solidFill>
                <a:latin typeface="Calibri"/>
              </a:rPr>
              <a:t>OUR RESULTS NEXT TO HSEE (1996)</a:t>
            </a:r>
            <a:endParaRPr b="0" lang="en-US" sz="1100" spc="-1" strike="noStrike">
              <a:solidFill>
                <a:srgbClr val="000000"/>
              </a:solidFill>
              <a:latin typeface="Arial"/>
            </a:endParaRPr>
          </a:p>
        </p:txBody>
      </p:sp>
      <p:sp>
        <p:nvSpPr>
          <p:cNvPr id="204" name="TextBox 12"/>
          <p:cNvSpPr/>
          <p:nvPr/>
        </p:nvSpPr>
        <p:spPr>
          <a:xfrm>
            <a:off x="7589520" y="1691640"/>
            <a:ext cx="8226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pc="-1" strike="noStrike">
                <a:solidFill>
                  <a:srgbClr val="f4b400"/>
                </a:solidFill>
                <a:latin typeface="Cambria"/>
              </a:rPr>
              <a:t>H1</a:t>
            </a:r>
            <a:endParaRPr b="0" lang="en-US" sz="1600" spc="-1" strike="noStrike">
              <a:solidFill>
                <a:srgbClr val="000000"/>
              </a:solidFill>
              <a:latin typeface="Arial"/>
            </a:endParaRPr>
          </a:p>
        </p:txBody>
      </p:sp>
      <p:sp>
        <p:nvSpPr>
          <p:cNvPr id="205" name="TextBox 13"/>
          <p:cNvSpPr/>
          <p:nvPr/>
        </p:nvSpPr>
        <p:spPr>
          <a:xfrm>
            <a:off x="7589520" y="2057400"/>
            <a:ext cx="4023000" cy="565560"/>
          </a:xfrm>
          <a:prstGeom prst="rect">
            <a:avLst/>
          </a:prstGeom>
          <a:noFill/>
          <a:ln w="0">
            <a:noFill/>
          </a:ln>
        </p:spPr>
        <p:style>
          <a:lnRef idx="0"/>
          <a:fillRef idx="0"/>
          <a:effectRef idx="0"/>
          <a:fontRef idx="minor"/>
        </p:style>
        <p:txBody>
          <a:bodyPr lIns="90000" rIns="90000" tIns="45000" bIns="45000" anchor="t">
            <a:spAutoFit/>
          </a:bodyPr>
          <a:p>
            <a:pPr defTabSz="914400">
              <a:lnSpc>
                <a:spcPct val="120000"/>
              </a:lnSpc>
            </a:pPr>
            <a:r>
              <a:rPr b="0" lang="en-US" sz="1300" spc="-1" strike="noStrike">
                <a:solidFill>
                  <a:srgbClr val="1b1f3b"/>
                </a:solidFill>
                <a:latin typeface="Calibri"/>
              </a:rPr>
              <a:t>Predicted: In separate evaluation, Verve Sound wins. Its 4.7★ rating is easy to judge on its own.</a:t>
            </a:r>
            <a:endParaRPr b="0" lang="en-US" sz="1300" spc="-1" strike="noStrike">
              <a:solidFill>
                <a:srgbClr val="000000"/>
              </a:solidFill>
              <a:latin typeface="Arial"/>
            </a:endParaRPr>
          </a:p>
        </p:txBody>
      </p:sp>
      <p:sp>
        <p:nvSpPr>
          <p:cNvPr id="206" name="TextBox 14"/>
          <p:cNvSpPr/>
          <p:nvPr/>
        </p:nvSpPr>
        <p:spPr>
          <a:xfrm>
            <a:off x="7589520" y="3154680"/>
            <a:ext cx="4023000" cy="803520"/>
          </a:xfrm>
          <a:prstGeom prst="rect">
            <a:avLst/>
          </a:prstGeom>
          <a:noFill/>
          <a:ln w="0">
            <a:noFill/>
          </a:ln>
        </p:spPr>
        <p:style>
          <a:lnRef idx="0"/>
          <a:fillRef idx="0"/>
          <a:effectRef idx="0"/>
          <a:fontRef idx="minor"/>
        </p:style>
        <p:txBody>
          <a:bodyPr lIns="90000" rIns="90000" tIns="45000" bIns="45000" anchor="t">
            <a:spAutoFit/>
          </a:bodyPr>
          <a:p>
            <a:pPr defTabSz="914400">
              <a:lnSpc>
                <a:spcPct val="120000"/>
              </a:lnSpc>
            </a:pPr>
            <a:r>
              <a:rPr b="0" lang="en-US" sz="1300" spc="-1" strike="noStrike">
                <a:solidFill>
                  <a:srgbClr val="1b1f3b"/>
                </a:solidFill>
                <a:latin typeface="Calibri"/>
              </a:rPr>
              <a:t>Predicted: In joint evaluation, preference shifts to Halcyon Sound once its distortion advantage becomes visible.</a:t>
            </a:r>
            <a:endParaRPr b="0" lang="en-US" sz="1300" spc="-1" strike="noStrike">
              <a:solidFill>
                <a:srgbClr val="000000"/>
              </a:solidFill>
              <a:latin typeface="Arial"/>
            </a:endParaRPr>
          </a:p>
        </p:txBody>
      </p:sp>
      <p:sp>
        <p:nvSpPr>
          <p:cNvPr id="207" name="Rounded Rectangle 15"/>
          <p:cNvSpPr/>
          <p:nvPr/>
        </p:nvSpPr>
        <p:spPr>
          <a:xfrm>
            <a:off x="7589520" y="4526280"/>
            <a:ext cx="4023000" cy="959760"/>
          </a:xfrm>
          <a:prstGeom prst="roundRect">
            <a:avLst>
              <a:gd name="adj" fmla="val 16667"/>
            </a:avLst>
          </a:prstGeom>
          <a:solidFill>
            <a:srgbClr val="f6f7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8" name="TextBox 16"/>
          <p:cNvSpPr/>
          <p:nvPr/>
        </p:nvSpPr>
        <p:spPr>
          <a:xfrm>
            <a:off x="7818120" y="4526280"/>
            <a:ext cx="3565800" cy="966600"/>
          </a:xfrm>
          <a:prstGeom prst="rect">
            <a:avLst/>
          </a:prstGeom>
          <a:noFill/>
          <a:ln w="0">
            <a:noFill/>
          </a:ln>
        </p:spPr>
        <p:style>
          <a:lnRef idx="0"/>
          <a:fillRef idx="0"/>
          <a:effectRef idx="0"/>
          <a:fontRef idx="minor"/>
        </p:style>
        <p:txBody>
          <a:bodyPr lIns="90000" rIns="90000" tIns="45000" bIns="45000" anchor="t">
            <a:spAutoFit/>
          </a:bodyPr>
          <a:p>
            <a:pPr defTabSz="914400">
              <a:lnSpc>
                <a:spcPct val="120000"/>
              </a:lnSpc>
            </a:pPr>
            <a:r>
              <a:rPr b="0" i="1" lang="en-US" sz="1200" spc="-1" strike="noStrike">
                <a:solidFill>
                  <a:srgbClr val="1b1f3b"/>
                </a:solidFill>
                <a:latin typeface="Calibri"/>
              </a:rPr>
              <a:t>Actual: Verve $94.88 → $89.53 (t = 0.59, p = .558). Halcyon $96.93 → $84.59 (t = 1.46, p = .149): it fell instead of rising. H1 not supported.</a:t>
            </a:r>
            <a:endParaRPr b="0" lang="en-US" sz="1200" spc="-1" strike="noStrike">
              <a:solidFill>
                <a:srgbClr val="000000"/>
              </a:solidFill>
              <a:latin typeface="Arial"/>
            </a:endParaRPr>
          </a:p>
        </p:txBody>
      </p:sp>
      <p:sp>
        <p:nvSpPr>
          <p:cNvPr id="209" name="ExclusionNote"/>
          <p:cNvSpPr txBox="1"/>
          <p:nvPr/>
        </p:nvSpPr>
        <p:spPr>
          <a:xfrm>
            <a:off x="548640" y="5760000"/>
            <a:ext cx="11063880" cy="260000"/>
          </a:xfrm>
          <a:prstGeom prst="rect">
            <a:avLst/>
          </a:prstGeom>
          <a:noFill/>
        </p:spPr>
        <p:txBody>
          <a:bodyPr wrap="square">
            <a:spAutoFit/>
          </a:bodyPr>
          <a:lstStyle/>
          <a:p>
            <a:r>
              <a:rPr sz="1050" i="1">
                <a:solidFill>
                  <a:srgbClr val="6B7280"/>
                </a:solidFill>
                <a:latin typeface="Calibri"/>
              </a:rPr>
              <a:t>Note: the Halcyon joint mean excludes one $40 response below the survey's $50 to $200 range (Halcyon n = 29; Verve n = 30). Keeping it does not change the result.</a:t>
            </a:r>
          </a:p>
        </p:txBody>
      </p:sp>
      <p:pic>
        <p:nvPicPr>
          <p:cNvPr id="210" name="Picture 209" descr="image3.png"/>
          <p:cNvPicPr>
            <a:picLocks noChangeAspect="1"/>
          </p:cNvPicPr>
          <p:nvPr/>
        </p:nvPicPr>
        <p:blipFill>
          <a:blip r:embed="rId4"/>
          <a:stretch>
            <a:fillRect/>
          </a:stretch>
        </p:blipFill>
        <p:spPr>
          <a:xfrm>
            <a:off x="548640" y="2004120"/>
            <a:ext cx="6674760" cy="3407835"/>
          </a:xfrm>
          <a:prstGeom prst="rect">
            <a:avLst/>
          </a:prstGeom>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1: WHY H1 WASN'T SUPPORTED</a:t>
            </a:r>
            <a:endParaRPr b="0" lang="en-US" sz="1200" spc="-1" strike="noStrike">
              <a:solidFill>
                <a:srgbClr val="000000"/>
              </a:solidFill>
              <a:latin typeface="Arial"/>
            </a:endParaRPr>
          </a:p>
        </p:txBody>
      </p:sp>
      <p:sp>
        <p:nvSpPr>
          <p:cNvPr id="228"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Six Likely Reasons</a:t>
            </a:r>
            <a:endParaRPr b="0" lang="en-US" sz="3000" spc="-1" strike="noStrike">
              <a:solidFill>
                <a:srgbClr val="000000"/>
              </a:solidFill>
              <a:latin typeface="Arial"/>
            </a:endParaRPr>
          </a:p>
        </p:txBody>
      </p:sp>
      <p:sp>
        <p:nvSpPr>
          <p:cNvPr id="229" name="Text 2"/>
          <p:cNvSpPr/>
          <p:nvPr/>
        </p:nvSpPr>
        <p:spPr>
          <a:xfrm>
            <a:off x="548640" y="1463040"/>
            <a:ext cx="110638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pc="-1" strike="noStrike">
                <a:solidFill>
                  <a:srgbClr val="1b1f3b"/>
                </a:solidFill>
                <a:latin typeface="Calibri"/>
                <a:ea typeface="Calibri"/>
              </a:rPr>
              <a:t>The easy-versus-hard distinction worked (manipulation check), so we looked at what else got in the way.</a:t>
            </a:r>
            <a:endParaRPr b="0" lang="en-US" sz="1350" spc="-1" strike="noStrike">
              <a:solidFill>
                <a:srgbClr val="000000"/>
              </a:solidFill>
              <a:latin typeface="Arial"/>
            </a:endParaRPr>
          </a:p>
        </p:txBody>
      </p:sp>
      <p:sp>
        <p:nvSpPr>
          <p:cNvPr id="230" name="Shape 3"/>
          <p:cNvSpPr/>
          <p:nvPr/>
        </p:nvSpPr>
        <p:spPr>
          <a:xfrm>
            <a:off x="548640" y="206604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1" name="Shape 4"/>
          <p:cNvSpPr/>
          <p:nvPr/>
        </p:nvSpPr>
        <p:spPr>
          <a:xfrm>
            <a:off x="2043720" y="221220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1</a:t>
            </a:r>
            <a:endParaRPr b="0" lang="en-US" sz="2200" spc="-1" strike="noStrike">
              <a:solidFill>
                <a:srgbClr val="ffffff"/>
              </a:solidFill>
              <a:latin typeface="Arial"/>
            </a:endParaRPr>
          </a:p>
        </p:txBody>
      </p:sp>
      <p:sp>
        <p:nvSpPr>
          <p:cNvPr id="232" name="Text 5"/>
          <p:cNvSpPr/>
          <p:nvPr/>
        </p:nvSpPr>
        <p:spPr>
          <a:xfrm>
            <a:off x="731520" y="277920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Distortion Was Easier to Read</a:t>
            </a:r>
            <a:endParaRPr b="0" lang="en-US" sz="1300" spc="-1" strike="noStrike">
              <a:solidFill>
                <a:srgbClr val="000000"/>
              </a:solidFill>
              <a:latin typeface="Arial"/>
            </a:endParaRPr>
          </a:p>
        </p:txBody>
      </p:sp>
      <p:sp>
        <p:nvSpPr>
          <p:cNvPr id="233" name="Text 6"/>
          <p:cNvSpPr/>
          <p:nvPr/>
        </p:nvSpPr>
        <p:spPr>
          <a:xfrm>
            <a:off x="777240" y="311292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A plain 'Distortion' label and sub-1% values like 0.3% sound good even alone; Hsee used tiny THD decimals.</a:t>
            </a:r>
            <a:endParaRPr b="0" lang="en-US" sz="1000" spc="-1" strike="noStrike">
              <a:solidFill>
                <a:srgbClr val="000000"/>
              </a:solidFill>
              <a:latin typeface="Arial"/>
            </a:endParaRPr>
          </a:p>
        </p:txBody>
      </p:sp>
      <p:sp>
        <p:nvSpPr>
          <p:cNvPr id="234" name="Shape 7"/>
          <p:cNvSpPr/>
          <p:nvPr/>
        </p:nvSpPr>
        <p:spPr>
          <a:xfrm>
            <a:off x="4325040" y="206604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5" name="Shape 8"/>
          <p:cNvSpPr/>
          <p:nvPr/>
        </p:nvSpPr>
        <p:spPr>
          <a:xfrm>
            <a:off x="5820120" y="221220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2</a:t>
            </a:r>
            <a:endParaRPr b="0" lang="en-US" sz="2200" spc="-1" strike="noStrike">
              <a:solidFill>
                <a:srgbClr val="ffffff"/>
              </a:solidFill>
              <a:latin typeface="Arial"/>
            </a:endParaRPr>
          </a:p>
        </p:txBody>
      </p:sp>
      <p:sp>
        <p:nvSpPr>
          <p:cNvPr id="236" name="Text 9"/>
          <p:cNvSpPr/>
          <p:nvPr/>
        </p:nvSpPr>
        <p:spPr>
          <a:xfrm>
            <a:off x="4507920" y="277920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The Star Gap Was Small</a:t>
            </a:r>
            <a:endParaRPr b="0" lang="en-US" sz="1300" spc="-1" strike="noStrike">
              <a:solidFill>
                <a:srgbClr val="000000"/>
              </a:solidFill>
              <a:latin typeface="Arial"/>
            </a:endParaRPr>
          </a:p>
        </p:txBody>
      </p:sp>
      <p:sp>
        <p:nvSpPr>
          <p:cNvPr id="237" name="Text 10"/>
          <p:cNvSpPr/>
          <p:nvPr/>
        </p:nvSpPr>
        <p:spPr>
          <a:xfrm>
            <a:off x="4553640" y="311292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4.7 vs. 4.1 stars may both read as 'good': Verve earned no premium alone ($94.88 vs. $96.93).</a:t>
            </a:r>
            <a:endParaRPr b="0" lang="en-US" sz="1000" spc="-1" strike="noStrike">
              <a:solidFill>
                <a:srgbClr val="000000"/>
              </a:solidFill>
              <a:latin typeface="Arial"/>
            </a:endParaRPr>
          </a:p>
        </p:txBody>
      </p:sp>
      <p:sp>
        <p:nvSpPr>
          <p:cNvPr id="238" name="Shape 11"/>
          <p:cNvSpPr/>
          <p:nvPr/>
        </p:nvSpPr>
        <p:spPr>
          <a:xfrm>
            <a:off x="8101440" y="206604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9" name="Shape 12"/>
          <p:cNvSpPr/>
          <p:nvPr/>
        </p:nvSpPr>
        <p:spPr>
          <a:xfrm>
            <a:off x="9596520" y="221220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3</a:t>
            </a:r>
            <a:endParaRPr b="0" lang="en-US" sz="2200" spc="-1" strike="noStrike">
              <a:solidFill>
                <a:srgbClr val="ffffff"/>
              </a:solidFill>
              <a:latin typeface="Arial"/>
            </a:endParaRPr>
          </a:p>
        </p:txBody>
      </p:sp>
      <p:sp>
        <p:nvSpPr>
          <p:cNvPr id="240" name="Text 13"/>
          <p:cNvSpPr/>
          <p:nvPr/>
        </p:nvSpPr>
        <p:spPr>
          <a:xfrm>
            <a:off x="8284320" y="277920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Both Speakers Looked Good</a:t>
            </a:r>
            <a:endParaRPr b="0" lang="en-US" sz="1300" spc="-1" strike="noStrike">
              <a:solidFill>
                <a:srgbClr val="000000"/>
              </a:solidFill>
              <a:latin typeface="Arial"/>
            </a:endParaRPr>
          </a:p>
        </p:txBody>
      </p:sp>
      <p:sp>
        <p:nvSpPr>
          <p:cNvPr id="241" name="Text 14"/>
          <p:cNvSpPr/>
          <p:nvPr/>
        </p:nvSpPr>
        <p:spPr>
          <a:xfrm>
            <a:off x="8330040" y="311292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When both options look attractive, comparison can lower both (Hsee &amp; Leclerc, 1998), as we saw.</a:t>
            </a:r>
            <a:endParaRPr b="0" lang="en-US" sz="1000" spc="-1" strike="noStrike">
              <a:solidFill>
                <a:srgbClr val="000000"/>
              </a:solidFill>
              <a:latin typeface="Arial"/>
            </a:endParaRPr>
          </a:p>
        </p:txBody>
      </p:sp>
      <p:sp>
        <p:nvSpPr>
          <p:cNvPr id="242" name="Shape 15"/>
          <p:cNvSpPr/>
          <p:nvPr/>
        </p:nvSpPr>
        <p:spPr>
          <a:xfrm>
            <a:off x="548640" y="396036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3" name="Shape 16"/>
          <p:cNvSpPr/>
          <p:nvPr/>
        </p:nvSpPr>
        <p:spPr>
          <a:xfrm>
            <a:off x="2043720" y="410688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4</a:t>
            </a:r>
            <a:endParaRPr b="0" lang="en-US" sz="2200" spc="-1" strike="noStrike">
              <a:solidFill>
                <a:srgbClr val="ffffff"/>
              </a:solidFill>
              <a:latin typeface="Arial"/>
            </a:endParaRPr>
          </a:p>
        </p:txBody>
      </p:sp>
      <p:sp>
        <p:nvSpPr>
          <p:cNvPr id="244" name="Text 17"/>
          <p:cNvSpPr/>
          <p:nvPr/>
        </p:nvSpPr>
        <p:spPr>
          <a:xfrm>
            <a:off x="731520" y="467388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Sample Mix Differed by Form</a:t>
            </a:r>
            <a:endParaRPr b="0" lang="en-US" sz="1300" spc="-1" strike="noStrike">
              <a:solidFill>
                <a:srgbClr val="000000"/>
              </a:solidFill>
              <a:latin typeface="Arial"/>
            </a:endParaRPr>
          </a:p>
        </p:txBody>
      </p:sp>
      <p:sp>
        <p:nvSpPr>
          <p:cNvPr id="245" name="Text 18"/>
          <p:cNvSpPr/>
          <p:nvPr/>
        </p:nvSpPr>
        <p:spPr>
          <a:xfrm>
            <a:off x="777240" y="500760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Nine countries; non-students paid ~$26 more for Verve, and the Verve-alone form had more of them.</a:t>
            </a:r>
            <a:endParaRPr b="0" lang="en-US" sz="1000" spc="-1" strike="noStrike">
              <a:solidFill>
                <a:srgbClr val="000000"/>
              </a:solidFill>
              <a:latin typeface="Arial"/>
            </a:endParaRPr>
          </a:p>
        </p:txBody>
      </p:sp>
      <p:sp>
        <p:nvSpPr>
          <p:cNvPr id="246" name="Shape 19"/>
          <p:cNvSpPr/>
          <p:nvPr/>
        </p:nvSpPr>
        <p:spPr>
          <a:xfrm>
            <a:off x="4325040" y="396036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7" name="Shape 20"/>
          <p:cNvSpPr/>
          <p:nvPr/>
        </p:nvSpPr>
        <p:spPr>
          <a:xfrm>
            <a:off x="5820120" y="410688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5</a:t>
            </a:r>
            <a:endParaRPr b="0" lang="en-US" sz="2200" spc="-1" strike="noStrike">
              <a:solidFill>
                <a:srgbClr val="ffffff"/>
              </a:solidFill>
              <a:latin typeface="Arial"/>
            </a:endParaRPr>
          </a:p>
        </p:txBody>
      </p:sp>
      <p:sp>
        <p:nvSpPr>
          <p:cNvPr id="248" name="Text 21"/>
          <p:cNvSpPr/>
          <p:nvPr/>
        </p:nvSpPr>
        <p:spPr>
          <a:xfrm>
            <a:off x="4507920" y="467388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Hsee's Own Effect Was Modest</a:t>
            </a:r>
            <a:endParaRPr b="0" lang="en-US" sz="1300" spc="-1" strike="noStrike">
              <a:solidFill>
                <a:srgbClr val="000000"/>
              </a:solidFill>
              <a:latin typeface="Arial"/>
            </a:endParaRPr>
          </a:p>
        </p:txBody>
      </p:sp>
      <p:sp>
        <p:nvSpPr>
          <p:cNvPr id="249" name="Text 22"/>
          <p:cNvSpPr/>
          <p:nvPr/>
        </p:nvSpPr>
        <p:spPr>
          <a:xfrm>
            <a:off x="4553640" y="500760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His separate-evaluation result was only a trend (p ≈ .10), and replications often find smaller effects.</a:t>
            </a:r>
            <a:endParaRPr b="0" lang="en-US" sz="1000" spc="-1" strike="noStrike">
              <a:solidFill>
                <a:srgbClr val="000000"/>
              </a:solidFill>
              <a:latin typeface="Arial"/>
            </a:endParaRPr>
          </a:p>
        </p:txBody>
      </p:sp>
      <p:sp>
        <p:nvSpPr>
          <p:cNvPr id="250" name="Shape 23"/>
          <p:cNvSpPr/>
          <p:nvPr/>
        </p:nvSpPr>
        <p:spPr>
          <a:xfrm>
            <a:off x="8101440" y="396036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1" name="Shape 24"/>
          <p:cNvSpPr/>
          <p:nvPr/>
        </p:nvSpPr>
        <p:spPr>
          <a:xfrm>
            <a:off x="9596520" y="410688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6</a:t>
            </a:r>
            <a:endParaRPr b="0" lang="en-US" sz="2200" spc="-1" strike="noStrike">
              <a:solidFill>
                <a:srgbClr val="ffffff"/>
              </a:solidFill>
              <a:latin typeface="Arial"/>
            </a:endParaRPr>
          </a:p>
        </p:txBody>
      </p:sp>
      <p:sp>
        <p:nvSpPr>
          <p:cNvPr id="252" name="Text 25"/>
          <p:cNvSpPr/>
          <p:nvPr/>
        </p:nvSpPr>
        <p:spPr>
          <a:xfrm>
            <a:off x="8284320" y="467388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Limited Power</a:t>
            </a:r>
            <a:endParaRPr b="0" lang="en-US" sz="1300" spc="-1" strike="noStrike">
              <a:solidFill>
                <a:srgbClr val="000000"/>
              </a:solidFill>
              <a:latin typeface="Arial"/>
            </a:endParaRPr>
          </a:p>
        </p:txBody>
      </p:sp>
      <p:sp>
        <p:nvSpPr>
          <p:cNvPr id="253" name="Text 26"/>
          <p:cNvSpPr/>
          <p:nvPr/>
        </p:nvSpPr>
        <p:spPr>
          <a:xfrm>
            <a:off x="8330040" y="500760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About 28 people per group against a $27 to $41 spread; 80% power needs about 100 per group.</a:t>
            </a:r>
            <a:endParaRPr b="0" lang="en-US" sz="1000" spc="-1" strike="noStrike">
              <a:solidFill>
                <a:srgbClr val="000000"/>
              </a:solidFill>
              <a:latin typeface="Arial"/>
            </a:endParaRPr>
          </a:p>
        </p:txBody>
      </p:sp>
      <p:sp>
        <p:nvSpPr>
          <p:cNvPr id="254" name="Shape 27"/>
          <p:cNvSpPr/>
          <p:nvPr/>
        </p:nvSpPr>
        <p:spPr>
          <a:xfrm>
            <a:off x="548640" y="5623560"/>
            <a:ext cx="11054880" cy="776880"/>
          </a:xfrm>
          <a:prstGeom prst="roundRect">
            <a:avLst>
              <a:gd name="adj" fmla="val 11765"/>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5" name="Text 28"/>
          <p:cNvSpPr/>
          <p:nvPr/>
        </p:nvSpPr>
        <p:spPr>
          <a:xfrm>
            <a:off x="777240" y="5623560"/>
            <a:ext cx="10597680" cy="776880"/>
          </a:xfrm>
          <a:prstGeom prst="rect">
            <a:avLst/>
          </a:prstGeom>
          <a:noFill/>
          <a:ln w="0">
            <a:noFill/>
          </a:ln>
        </p:spPr>
        <p:style>
          <a:lnRef idx="0"/>
          <a:fillRef idx="0"/>
          <a:effectRef idx="0"/>
          <a:fontRef idx="minor"/>
        </p:style>
        <p:txBody>
          <a:bodyPr lIns="0" rIns="0" tIns="0" bIns="0" anchor="ctr">
            <a:noAutofit/>
          </a:bodyPr>
          <a:p>
            <a:pPr algn="ctr" defTabSz="914400">
              <a:lnSpc>
                <a:spcPct val="120000"/>
              </a:lnSpc>
              <a:tabLst>
                <a:tab algn="l" pos="0"/>
              </a:tabLst>
            </a:pPr>
            <a:r>
              <a:rPr b="1" lang="en-US" sz="1150" spc="-1" strike="noStrike">
                <a:solidFill>
                  <a:srgbClr val="ffffff"/>
                </a:solidFill>
                <a:latin typeface="Calibri"/>
                <a:ea typeface="Calibri"/>
              </a:rPr>
              <a:t>Robustness checks (direction-of-effect tests, within-person comparison, and controls for country and student status) all reached the same conclusion.</a:t>
            </a:r>
            <a:endParaRPr b="0" lang="en-US" sz="1150" spc="-1" strike="noStrike">
              <a:solidFill>
                <a:srgbClr val="000000"/>
              </a:solidFill>
              <a:latin typeface="Arial"/>
            </a:endParaRPr>
          </a:p>
        </p:txBody>
      </p:sp>
      <p:sp>
        <p:nvSpPr>
          <p:cNvPr id="256" name="Text 29"/>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257" name="Text 30"/>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7</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2"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1: MANAGERIAL IMPLICATIONS</a:t>
            </a:r>
            <a:endParaRPr b="0" lang="en-US" sz="1200" spc="-1" strike="noStrike">
              <a:solidFill>
                <a:srgbClr val="000000"/>
              </a:solidFill>
              <a:latin typeface="Arial"/>
            </a:endParaRPr>
          </a:p>
        </p:txBody>
      </p:sp>
      <p:sp>
        <p:nvSpPr>
          <p:cNvPr id="283"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If H1 Holds: What Marketers Should Do</a:t>
            </a:r>
            <a:endParaRPr b="0" lang="en-US" sz="3000" spc="-1" strike="noStrike">
              <a:solidFill>
                <a:srgbClr val="000000"/>
              </a:solidFill>
              <a:latin typeface="Arial"/>
            </a:endParaRPr>
          </a:p>
        </p:txBody>
      </p:sp>
      <p:sp>
        <p:nvSpPr>
          <p:cNvPr id="284" name="Shape 2"/>
          <p:cNvSpPr/>
          <p:nvPr/>
        </p:nvSpPr>
        <p:spPr>
          <a:xfrm>
            <a:off x="548640" y="1600200"/>
            <a:ext cx="731160" cy="7311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85" name="Image 0" descr="/home/claude/deck/icon_balance.png"/>
          <p:cNvPicPr/>
          <p:nvPr/>
        </p:nvPicPr>
        <p:blipFill>
          <a:blip r:embed="rId1"/>
          <a:stretch/>
        </p:blipFill>
        <p:spPr>
          <a:xfrm>
            <a:off x="643680" y="1695240"/>
            <a:ext cx="541080" cy="541080"/>
          </a:xfrm>
          <a:prstGeom prst="rect">
            <a:avLst/>
          </a:prstGeom>
          <a:ln w="0">
            <a:noFill/>
          </a:ln>
        </p:spPr>
      </p:pic>
      <p:sp>
        <p:nvSpPr>
          <p:cNvPr id="286" name="Text 3"/>
          <p:cNvSpPr/>
          <p:nvPr/>
        </p:nvSpPr>
        <p:spPr>
          <a:xfrm>
            <a:off x="1554480" y="157284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1b1f3b"/>
                </a:solidFill>
                <a:latin typeface="Calibri"/>
                <a:ea typeface="Calibri"/>
              </a:rPr>
              <a:t>Invite comparison when your edge is hard to judge.</a:t>
            </a:r>
            <a:endParaRPr b="0" lang="en-US" sz="1550" spc="-1" strike="noStrike">
              <a:solidFill>
                <a:srgbClr val="000000"/>
              </a:solidFill>
              <a:latin typeface="Arial"/>
            </a:endParaRPr>
          </a:p>
        </p:txBody>
      </p:sp>
      <p:sp>
        <p:nvSpPr>
          <p:cNvPr id="287" name="Text 4"/>
          <p:cNvSpPr/>
          <p:nvPr/>
        </p:nvSpPr>
        <p:spPr>
          <a:xfrm>
            <a:off x="1554480" y="1947600"/>
            <a:ext cx="9966600" cy="77688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300" spc="-1" strike="noStrike">
                <a:solidFill>
                  <a:srgbClr val="1b1f3b"/>
                </a:solidFill>
                <a:latin typeface="Calibri"/>
                <a:ea typeface="Calibri"/>
              </a:rPr>
              <a:t>If you lead on a technical spec, like Halcyon's distortion, create side-by-side moments: comparison tables, 'compare similar items' widgets, and comparison shelf displays.</a:t>
            </a:r>
            <a:endParaRPr b="0" lang="en-US" sz="1300" spc="-1" strike="noStrike">
              <a:solidFill>
                <a:srgbClr val="000000"/>
              </a:solidFill>
              <a:latin typeface="Arial"/>
            </a:endParaRPr>
          </a:p>
        </p:txBody>
      </p:sp>
      <p:sp>
        <p:nvSpPr>
          <p:cNvPr id="288" name="Shape 5"/>
          <p:cNvSpPr/>
          <p:nvPr/>
        </p:nvSpPr>
        <p:spPr>
          <a:xfrm>
            <a:off x="548640" y="3017520"/>
            <a:ext cx="731160" cy="7311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89" name="Image 1" descr="/home/claude/deck/icon_user_gold.png"/>
          <p:cNvPicPr/>
          <p:nvPr/>
        </p:nvPicPr>
        <p:blipFill>
          <a:blip r:embed="rId2"/>
          <a:stretch/>
        </p:blipFill>
        <p:spPr>
          <a:xfrm>
            <a:off x="643680" y="3112560"/>
            <a:ext cx="541080" cy="541080"/>
          </a:xfrm>
          <a:prstGeom prst="rect">
            <a:avLst/>
          </a:prstGeom>
          <a:ln w="0">
            <a:noFill/>
          </a:ln>
        </p:spPr>
      </p:pic>
      <p:sp>
        <p:nvSpPr>
          <p:cNvPr id="290" name="Text 6"/>
          <p:cNvSpPr/>
          <p:nvPr/>
        </p:nvSpPr>
        <p:spPr>
          <a:xfrm>
            <a:off x="1554480" y="299016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1b1f3b"/>
                </a:solidFill>
                <a:latin typeface="Calibri"/>
                <a:ea typeface="Calibri"/>
              </a:rPr>
              <a:t>Win the single-product moment when your edge is easy to judge.</a:t>
            </a:r>
            <a:endParaRPr b="0" lang="en-US" sz="1550" spc="-1" strike="noStrike">
              <a:solidFill>
                <a:srgbClr val="000000"/>
              </a:solidFill>
              <a:latin typeface="Arial"/>
            </a:endParaRPr>
          </a:p>
        </p:txBody>
      </p:sp>
      <p:sp>
        <p:nvSpPr>
          <p:cNvPr id="291" name="Text 7"/>
          <p:cNvSpPr/>
          <p:nvPr/>
        </p:nvSpPr>
        <p:spPr>
          <a:xfrm>
            <a:off x="1554480" y="3364920"/>
            <a:ext cx="9966600" cy="77688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300" spc="-1" strike="noStrike">
                <a:solidFill>
                  <a:srgbClr val="1b1f3b"/>
                </a:solidFill>
                <a:latin typeface="Calibri"/>
                <a:ea typeface="Calibri"/>
              </a:rPr>
              <a:t>If you lead on ratings, like Verve, invest where products are seen one at a time (social ads, influencer posts, product pages) and avoid comparison tables with stronger-spec rivals.</a:t>
            </a:r>
            <a:endParaRPr b="0" lang="en-US" sz="1300" spc="-1" strike="noStrike">
              <a:solidFill>
                <a:srgbClr val="000000"/>
              </a:solidFill>
              <a:latin typeface="Arial"/>
            </a:endParaRPr>
          </a:p>
        </p:txBody>
      </p:sp>
      <p:sp>
        <p:nvSpPr>
          <p:cNvPr id="292" name="Shape 8"/>
          <p:cNvSpPr/>
          <p:nvPr/>
        </p:nvSpPr>
        <p:spPr>
          <a:xfrm>
            <a:off x="548640" y="4709160"/>
            <a:ext cx="731160" cy="7311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93" name="Image 2" descr="/home/claude/deck/icon_bullhorn.png"/>
          <p:cNvPicPr/>
          <p:nvPr/>
        </p:nvPicPr>
        <p:blipFill>
          <a:blip r:embed="rId3"/>
          <a:stretch/>
        </p:blipFill>
        <p:spPr>
          <a:xfrm>
            <a:off x="643680" y="4804200"/>
            <a:ext cx="541080" cy="541080"/>
          </a:xfrm>
          <a:prstGeom prst="rect">
            <a:avLst/>
          </a:prstGeom>
          <a:ln w="0">
            <a:noFill/>
          </a:ln>
        </p:spPr>
      </p:pic>
      <p:sp>
        <p:nvSpPr>
          <p:cNvPr id="294" name="Text 9"/>
          <p:cNvSpPr/>
          <p:nvPr/>
        </p:nvSpPr>
        <p:spPr>
          <a:xfrm>
            <a:off x="1554480" y="4681800"/>
            <a:ext cx="99666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1b1f3b"/>
                </a:solidFill>
                <a:latin typeface="Calibri"/>
                <a:ea typeface="Calibri"/>
              </a:rPr>
              <a:t>Make hard specs easy to judge on your own page.</a:t>
            </a:r>
            <a:endParaRPr b="0" lang="en-US" sz="1550" spc="-1" strike="noStrike">
              <a:solidFill>
                <a:srgbClr val="000000"/>
              </a:solidFill>
              <a:latin typeface="Arial"/>
            </a:endParaRPr>
          </a:p>
        </p:txBody>
      </p:sp>
      <p:sp>
        <p:nvSpPr>
          <p:cNvPr id="295" name="Text 10"/>
          <p:cNvSpPr/>
          <p:nvPr/>
        </p:nvSpPr>
        <p:spPr>
          <a:xfrm>
            <a:off x="1554480" y="5056560"/>
            <a:ext cx="9966600" cy="77688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300" spc="-1" strike="noStrike">
                <a:solidFill>
                  <a:srgbClr val="1b1f3b"/>
                </a:solidFill>
                <a:latin typeface="Calibri"/>
                <a:ea typeface="Calibri"/>
              </a:rPr>
              <a:t>Add a benchmark, such as '0.3% distortion: clearer than most speakers under $150', so a technical edge counts even without a comparison; A/B test it against the raw spec.</a:t>
            </a:r>
            <a:endParaRPr b="0" lang="en-US" sz="1300" spc="-1" strike="noStrike">
              <a:solidFill>
                <a:srgbClr val="000000"/>
              </a:solidFill>
              <a:latin typeface="Arial"/>
            </a:endParaRPr>
          </a:p>
        </p:txBody>
      </p:sp>
      <p:sp>
        <p:nvSpPr>
          <p:cNvPr id="296" name="Text 11"/>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297" name="Text 12"/>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8</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1f3b"/>
        </a:solidFill>
      </p:bgPr>
    </p:bg>
    <p:spTree>
      <p:nvGrpSpPr>
        <p:cNvPr id="1" name=""/>
        <p:cNvGrpSpPr/>
        <p:nvPr/>
      </p:nvGrpSpPr>
      <p:grpSpPr>
        <a:xfrm>
          <a:off x="0" y="0"/>
          <a:ext cx="0" cy="0"/>
          <a:chOff x="0" y="0"/>
          <a:chExt cx="0" cy="0"/>
        </a:xfrm>
      </p:grpSpPr>
      <p:sp>
        <p:nvSpPr>
          <p:cNvPr id="118"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f4b400"/>
                </a:solidFill>
                <a:latin typeface="Calibri"/>
                <a:ea typeface="Calibri"/>
              </a:rPr>
              <a:t>STUDY 2: EXTENSION</a:t>
            </a:r>
            <a:endParaRPr b="0" lang="en-US" sz="1200" spc="-1" strike="noStrike">
              <a:solidFill>
                <a:srgbClr val="ffffff"/>
              </a:solidFill>
              <a:latin typeface="Arial"/>
            </a:endParaRPr>
          </a:p>
        </p:txBody>
      </p:sp>
      <p:sp>
        <p:nvSpPr>
          <p:cNvPr id="119"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ffffff"/>
                </a:solidFill>
                <a:latin typeface="Cambria"/>
                <a:ea typeface="Cambria"/>
              </a:rPr>
              <a:t>Can an Extrinsic Cue Change the Story?</a:t>
            </a:r>
            <a:endParaRPr b="0" lang="en-US" sz="3000" spc="-1" strike="noStrike">
              <a:solidFill>
                <a:srgbClr val="ffffff"/>
              </a:solidFill>
              <a:latin typeface="Arial"/>
            </a:endParaRPr>
          </a:p>
        </p:txBody>
      </p:sp>
      <p:sp>
        <p:nvSpPr>
          <p:cNvPr id="120" name="Shape 2"/>
          <p:cNvSpPr/>
          <p:nvPr/>
        </p:nvSpPr>
        <p:spPr>
          <a:xfrm>
            <a:off x="548640" y="1737360"/>
            <a:ext cx="914040" cy="914040"/>
          </a:xfrm>
          <a:prstGeom prst="ellipse">
            <a:avLst/>
          </a:prstGeom>
          <a:solidFill>
            <a:srgbClr val="242a5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21" name="Image 0" descr="/home/claude/deck/icon_user_gold.png"/>
          <p:cNvPicPr/>
          <p:nvPr/>
        </p:nvPicPr>
        <p:blipFill>
          <a:blip r:embed="rId1"/>
          <a:stretch/>
        </p:blipFill>
        <p:spPr>
          <a:xfrm>
            <a:off x="667440" y="1856160"/>
            <a:ext cx="676440" cy="676440"/>
          </a:xfrm>
          <a:prstGeom prst="rect">
            <a:avLst/>
          </a:prstGeom>
          <a:ln w="0">
            <a:noFill/>
          </a:ln>
        </p:spPr>
      </p:pic>
      <p:sp>
        <p:nvSpPr>
          <p:cNvPr id="122" name="Text 3"/>
          <p:cNvSpPr/>
          <p:nvPr/>
        </p:nvSpPr>
        <p:spPr>
          <a:xfrm>
            <a:off x="548640" y="2880360"/>
            <a:ext cx="5486040" cy="100548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1500" spc="-1" strike="noStrike">
                <a:solidFill>
                  <a:srgbClr val="c7cce8"/>
                </a:solidFill>
                <a:latin typeface="Calibri"/>
                <a:ea typeface="Calibri"/>
              </a:rPr>
              <a:t>According to Hsee's evaluability hypothesis, Halcyon should win when the speakers are compared, because comparison makes its lower distortion visible.</a:t>
            </a:r>
            <a:endParaRPr b="0" lang="en-US" sz="1500" spc="-1" strike="noStrike">
              <a:solidFill>
                <a:srgbClr val="ffffff"/>
              </a:solidFill>
              <a:latin typeface="Arial"/>
            </a:endParaRPr>
          </a:p>
        </p:txBody>
      </p:sp>
      <p:sp>
        <p:nvSpPr>
          <p:cNvPr id="123" name="Text 4"/>
          <p:cNvSpPr/>
          <p:nvPr/>
        </p:nvSpPr>
        <p:spPr>
          <a:xfrm>
            <a:off x="548640" y="3977640"/>
            <a:ext cx="5486040" cy="137124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1" lang="en-US" sz="1500" spc="-1" strike="noStrike">
                <a:solidFill>
                  <a:srgbClr val="ffffff"/>
                </a:solidFill>
                <a:latin typeface="Calibri"/>
                <a:ea typeface="Calibri"/>
              </a:rPr>
              <a:t>H2: Adding a celebrity association (an extrinsic cue) to Verve will widen Verve's price lead over Halcyon in a side-by-side comparison, even though its specs are worse.</a:t>
            </a:r>
            <a:endParaRPr b="0" lang="en-US" sz="1500" spc="-1" strike="noStrike">
              <a:solidFill>
                <a:srgbClr val="ffffff"/>
              </a:solidFill>
              <a:latin typeface="Arial"/>
            </a:endParaRPr>
          </a:p>
        </p:txBody>
      </p:sp>
      <p:pic>
        <p:nvPicPr>
          <p:cNvPr id="124" name="Image 1" descr="/home/claude/deck/verve_new_trim.png"/>
          <p:cNvPicPr/>
          <p:nvPr/>
        </p:nvPicPr>
        <p:blipFill>
          <a:blip r:embed="rId2"/>
          <a:stretch/>
        </p:blipFill>
        <p:spPr>
          <a:xfrm>
            <a:off x="7975800" y="1600200"/>
            <a:ext cx="3159000" cy="1234080"/>
          </a:xfrm>
          <a:prstGeom prst="rect">
            <a:avLst/>
          </a:prstGeom>
          <a:ln w="0">
            <a:noFill/>
          </a:ln>
        </p:spPr>
      </p:pic>
      <p:sp>
        <p:nvSpPr>
          <p:cNvPr id="125" name="Text 8"/>
          <p:cNvSpPr/>
          <p:nvPr/>
        </p:nvSpPr>
        <p:spPr>
          <a:xfrm>
            <a:off x="7406640" y="6159600"/>
            <a:ext cx="448020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48" strike="noStrike">
                <a:solidFill>
                  <a:srgbClr val="f4b400"/>
                </a:solidFill>
                <a:latin typeface="Calibri"/>
                <a:ea typeface="Calibri"/>
              </a:rPr>
              <a:t>EXTRINSIC CUE: INFLUENCER-STYLE POST</a:t>
            </a:r>
            <a:endParaRPr b="0" lang="en-US" sz="1050" spc="-1" strike="noStrike">
              <a:solidFill>
                <a:srgbClr val="ffffff"/>
              </a:solidFill>
              <a:latin typeface="Arial"/>
            </a:endParaRPr>
          </a:p>
        </p:txBody>
      </p:sp>
      <p:sp>
        <p:nvSpPr>
          <p:cNvPr id="126" name="Text 9"/>
          <p:cNvSpPr/>
          <p:nvPr/>
        </p:nvSpPr>
        <p:spPr>
          <a:xfrm>
            <a:off x="7315200" y="6357240"/>
            <a:ext cx="44802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150" spc="-1" strike="noStrike">
                <a:solidFill>
                  <a:srgbClr val="c7cce8"/>
                </a:solidFill>
                <a:latin typeface="Calibri"/>
                <a:ea typeface="Calibri"/>
              </a:rPr>
              <a:t>"Dua Lipa's Verve Era: Can't put it down, can't turn it off"</a:t>
            </a:r>
            <a:endParaRPr b="0" lang="en-US" sz="1150" spc="-1" strike="noStrike">
              <a:solidFill>
                <a:srgbClr val="ffffff"/>
              </a:solidFill>
              <a:latin typeface="Arial"/>
            </a:endParaRPr>
          </a:p>
        </p:txBody>
      </p:sp>
      <p:sp>
        <p:nvSpPr>
          <p:cNvPr id="127" name="Text 10"/>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0b5"/>
                </a:solidFill>
                <a:latin typeface="Calibri"/>
                <a:ea typeface="Calibri"/>
              </a:rPr>
              <a:t>Global Customer Decision Making  •  Group Project Findings</a:t>
            </a:r>
            <a:endParaRPr b="0" lang="en-US" sz="900" spc="-1" strike="noStrike">
              <a:solidFill>
                <a:srgbClr val="ffffff"/>
              </a:solidFill>
              <a:latin typeface="Arial"/>
            </a:endParaRPr>
          </a:p>
        </p:txBody>
      </p:sp>
      <p:sp>
        <p:nvSpPr>
          <p:cNvPr id="128" name="Text 11"/>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0b5"/>
                </a:solidFill>
                <a:latin typeface="Calibri"/>
                <a:ea typeface="Calibri"/>
              </a:rPr>
              <a:t>9</a:t>
            </a:r>
            <a:endParaRPr b="0" lang="en-US" sz="900" spc="-1" strike="noStrike">
              <a:solidFill>
                <a:srgbClr val="ffffff"/>
              </a:solidFill>
              <a:latin typeface="Arial"/>
            </a:endParaRPr>
          </a:p>
        </p:txBody>
      </p:sp>
      <p:sp>
        <p:nvSpPr>
          <p:cNvPr id="129" name="Picture 26"/>
          <p:cNvSpPr/>
          <p:nvPr/>
        </p:nvSpPr>
        <p:spPr>
          <a:xfrm>
            <a:off x="7818120" y="3246120"/>
            <a:ext cx="2377080" cy="2377080"/>
          </a:xfrm>
          <a:prstGeom prst="flowChartConnector">
            <a:avLst/>
          </a:pr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0"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2: THEORY</a:t>
            </a:r>
            <a:endParaRPr b="0" lang="en-US" sz="1200" spc="-1" strike="noStrike">
              <a:solidFill>
                <a:srgbClr val="000000"/>
              </a:solidFill>
              <a:latin typeface="Arial"/>
            </a:endParaRPr>
          </a:p>
        </p:txBody>
      </p:sp>
      <p:sp>
        <p:nvSpPr>
          <p:cNvPr id="131"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Why We Think This Could Work</a:t>
            </a:r>
            <a:endParaRPr b="0" lang="en-US" sz="3000" spc="-1" strike="noStrike">
              <a:solidFill>
                <a:srgbClr val="000000"/>
              </a:solidFill>
              <a:latin typeface="Arial"/>
            </a:endParaRPr>
          </a:p>
        </p:txBody>
      </p:sp>
      <p:sp>
        <p:nvSpPr>
          <p:cNvPr id="132" name="Text 2"/>
          <p:cNvSpPr/>
          <p:nvPr/>
        </p:nvSpPr>
        <p:spPr>
          <a:xfrm>
            <a:off x="548640" y="1463040"/>
            <a:ext cx="110638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50" spc="-1" strike="noStrike">
                <a:solidFill>
                  <a:srgbClr val="1b1f3b"/>
                </a:solidFill>
                <a:latin typeface="Calibri"/>
                <a:ea typeface="Calibri"/>
              </a:rPr>
              <a:t>Two established theories both point the same way: when a product's real merit is hard to judge, a signal from outside the product can carry outsized weight.</a:t>
            </a:r>
            <a:endParaRPr b="0" lang="en-US" sz="1450" spc="-1" strike="noStrike">
              <a:solidFill>
                <a:srgbClr val="000000"/>
              </a:solidFill>
              <a:latin typeface="Arial"/>
            </a:endParaRPr>
          </a:p>
        </p:txBody>
      </p:sp>
      <p:sp>
        <p:nvSpPr>
          <p:cNvPr id="133" name="Shape 3"/>
          <p:cNvSpPr/>
          <p:nvPr/>
        </p:nvSpPr>
        <p:spPr>
          <a:xfrm>
            <a:off x="548640" y="2286000"/>
            <a:ext cx="5348880" cy="3382920"/>
          </a:xfrm>
          <a:prstGeom prst="roundRect">
            <a:avLst>
              <a:gd name="adj" fmla="val 3243"/>
            </a:avLst>
          </a:prstGeom>
          <a:solidFill>
            <a:srgbClr val="f6f7fa"/>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4" name="Shape 4"/>
          <p:cNvSpPr/>
          <p:nvPr/>
        </p:nvSpPr>
        <p:spPr>
          <a:xfrm>
            <a:off x="914400" y="2651760"/>
            <a:ext cx="639720" cy="63972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35" name="Image 0" descr="/home/claude/deck/icon_tag.png"/>
          <p:cNvPicPr/>
          <p:nvPr/>
        </p:nvPicPr>
        <p:blipFill>
          <a:blip r:embed="rId1"/>
          <a:stretch/>
        </p:blipFill>
        <p:spPr>
          <a:xfrm>
            <a:off x="997560" y="2734920"/>
            <a:ext cx="473400" cy="473400"/>
          </a:xfrm>
          <a:prstGeom prst="rect">
            <a:avLst/>
          </a:prstGeom>
          <a:ln w="0">
            <a:noFill/>
          </a:ln>
        </p:spPr>
      </p:pic>
      <p:sp>
        <p:nvSpPr>
          <p:cNvPr id="136" name="Text 5"/>
          <p:cNvSpPr/>
          <p:nvPr/>
        </p:nvSpPr>
        <p:spPr>
          <a:xfrm>
            <a:off x="1737360" y="2651760"/>
            <a:ext cx="3885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1f3b"/>
                </a:solidFill>
                <a:latin typeface="Calibri"/>
                <a:ea typeface="Calibri"/>
              </a:rPr>
              <a:t>CUE UTILIZATION THEORY</a:t>
            </a:r>
            <a:endParaRPr b="0" lang="en-US" sz="1300" spc="-1" strike="noStrike">
              <a:solidFill>
                <a:srgbClr val="000000"/>
              </a:solidFill>
              <a:latin typeface="Arial"/>
            </a:endParaRPr>
          </a:p>
        </p:txBody>
      </p:sp>
      <p:sp>
        <p:nvSpPr>
          <p:cNvPr id="137" name="Text 6"/>
          <p:cNvSpPr/>
          <p:nvPr/>
        </p:nvSpPr>
        <p:spPr>
          <a:xfrm>
            <a:off x="1737360" y="2953440"/>
            <a:ext cx="3885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00" spc="-1" strike="noStrike">
                <a:solidFill>
                  <a:srgbClr val="6b7280"/>
                </a:solidFill>
                <a:latin typeface="Calibri"/>
                <a:ea typeface="Calibri"/>
              </a:rPr>
              <a:t>Olson &amp; Jacoby, 1972</a:t>
            </a:r>
            <a:endParaRPr b="0" lang="en-US" sz="1100" spc="-1" strike="noStrike">
              <a:solidFill>
                <a:srgbClr val="000000"/>
              </a:solidFill>
              <a:latin typeface="Arial"/>
            </a:endParaRPr>
          </a:p>
        </p:txBody>
      </p:sp>
      <p:sp>
        <p:nvSpPr>
          <p:cNvPr id="138" name="Text 7"/>
          <p:cNvSpPr/>
          <p:nvPr/>
        </p:nvSpPr>
        <p:spPr>
          <a:xfrm>
            <a:off x="914400" y="3566160"/>
            <a:ext cx="4617360" cy="1828440"/>
          </a:xfrm>
          <a:prstGeom prst="rect">
            <a:avLst/>
          </a:prstGeom>
          <a:noFill/>
          <a:ln w="0">
            <a:noFill/>
          </a:ln>
        </p:spPr>
        <p:style>
          <a:lnRef idx="0"/>
          <a:fillRef idx="0"/>
          <a:effectRef idx="0"/>
          <a:fontRef idx="minor"/>
        </p:style>
        <p:txBody>
          <a:bodyPr lIns="0" rIns="0" tIns="0" bIns="0" anchor="ctr">
            <a:noAutofit/>
          </a:bodyPr>
          <a:p>
            <a:pPr defTabSz="914400">
              <a:lnSpc>
                <a:spcPct val="122000"/>
              </a:lnSpc>
              <a:tabLst>
                <a:tab algn="l" pos="0"/>
              </a:tabLst>
            </a:pPr>
            <a:r>
              <a:rPr b="0" lang="en-US" sz="1250" spc="-1" strike="noStrike">
                <a:solidFill>
                  <a:srgbClr val="1b1f3b"/>
                </a:solidFill>
                <a:latin typeface="Calibri"/>
                <a:ea typeface="Calibri"/>
              </a:rPr>
              <a:t>Products send two kinds of signals. Intrinsic cues are part of the product itself, like our star rating and distortion rating. Extrinsic cues come from outside it, like price, brand, or an endorsement. When an intrinsic cue is hard to judge, people lean more on extrinsic cues instead.</a:t>
            </a:r>
            <a:endParaRPr b="0" lang="en-US" sz="1250" spc="-1" strike="noStrike">
              <a:solidFill>
                <a:srgbClr val="000000"/>
              </a:solidFill>
              <a:latin typeface="Arial"/>
            </a:endParaRPr>
          </a:p>
        </p:txBody>
      </p:sp>
      <p:sp>
        <p:nvSpPr>
          <p:cNvPr id="139" name="Shape 8"/>
          <p:cNvSpPr/>
          <p:nvPr/>
        </p:nvSpPr>
        <p:spPr>
          <a:xfrm>
            <a:off x="6446520" y="2286000"/>
            <a:ext cx="5348880" cy="3382920"/>
          </a:xfrm>
          <a:prstGeom prst="roundRect">
            <a:avLst>
              <a:gd name="adj" fmla="val 3243"/>
            </a:avLst>
          </a:prstGeom>
          <a:solidFill>
            <a:srgbClr val="f6f7fa"/>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0" name="Shape 9"/>
          <p:cNvSpPr/>
          <p:nvPr/>
        </p:nvSpPr>
        <p:spPr>
          <a:xfrm>
            <a:off x="6812280" y="2651760"/>
            <a:ext cx="639720" cy="63972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41" name="Image 1" descr="/home/claude/deck/icon_brain.png"/>
          <p:cNvPicPr/>
          <p:nvPr/>
        </p:nvPicPr>
        <p:blipFill>
          <a:blip r:embed="rId2"/>
          <a:stretch/>
        </p:blipFill>
        <p:spPr>
          <a:xfrm>
            <a:off x="6895440" y="2734920"/>
            <a:ext cx="473400" cy="473400"/>
          </a:xfrm>
          <a:prstGeom prst="rect">
            <a:avLst/>
          </a:prstGeom>
          <a:ln w="0">
            <a:noFill/>
          </a:ln>
        </p:spPr>
      </p:pic>
      <p:sp>
        <p:nvSpPr>
          <p:cNvPr id="142" name="Text 10"/>
          <p:cNvSpPr/>
          <p:nvPr/>
        </p:nvSpPr>
        <p:spPr>
          <a:xfrm>
            <a:off x="7635240" y="2651760"/>
            <a:ext cx="3885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1f3b"/>
                </a:solidFill>
                <a:latin typeface="Calibri"/>
                <a:ea typeface="Calibri"/>
              </a:rPr>
              <a:t>ELABORATION LIKELIHOOD MODEL</a:t>
            </a:r>
            <a:endParaRPr b="0" lang="en-US" sz="1300" spc="-1" strike="noStrike">
              <a:solidFill>
                <a:srgbClr val="000000"/>
              </a:solidFill>
              <a:latin typeface="Arial"/>
            </a:endParaRPr>
          </a:p>
        </p:txBody>
      </p:sp>
      <p:sp>
        <p:nvSpPr>
          <p:cNvPr id="143" name="Text 11"/>
          <p:cNvSpPr/>
          <p:nvPr/>
        </p:nvSpPr>
        <p:spPr>
          <a:xfrm>
            <a:off x="7635240" y="2953440"/>
            <a:ext cx="3885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00" spc="-1" strike="noStrike">
                <a:solidFill>
                  <a:srgbClr val="6b7280"/>
                </a:solidFill>
                <a:latin typeface="Calibri"/>
                <a:ea typeface="Calibri"/>
              </a:rPr>
              <a:t>Petty &amp; Cacioppo, 1986</a:t>
            </a:r>
            <a:endParaRPr b="0" lang="en-US" sz="1100" spc="-1" strike="noStrike">
              <a:solidFill>
                <a:srgbClr val="000000"/>
              </a:solidFill>
              <a:latin typeface="Arial"/>
            </a:endParaRPr>
          </a:p>
        </p:txBody>
      </p:sp>
      <p:sp>
        <p:nvSpPr>
          <p:cNvPr id="144" name="Text 12"/>
          <p:cNvSpPr/>
          <p:nvPr/>
        </p:nvSpPr>
        <p:spPr>
          <a:xfrm>
            <a:off x="6812280" y="3566160"/>
            <a:ext cx="4617360" cy="1828440"/>
          </a:xfrm>
          <a:prstGeom prst="rect">
            <a:avLst/>
          </a:prstGeom>
          <a:noFill/>
          <a:ln w="0">
            <a:noFill/>
          </a:ln>
        </p:spPr>
        <p:style>
          <a:lnRef idx="0"/>
          <a:fillRef idx="0"/>
          <a:effectRef idx="0"/>
          <a:fontRef idx="minor"/>
        </p:style>
        <p:txBody>
          <a:bodyPr lIns="0" rIns="0" tIns="0" bIns="0" anchor="ctr">
            <a:noAutofit/>
          </a:bodyPr>
          <a:p>
            <a:pPr defTabSz="914400">
              <a:lnSpc>
                <a:spcPct val="122000"/>
              </a:lnSpc>
              <a:tabLst>
                <a:tab algn="l" pos="0"/>
              </a:tabLst>
            </a:pPr>
            <a:r>
              <a:rPr b="0" lang="en-US" sz="1250" spc="-1" strike="noStrike">
                <a:solidFill>
                  <a:srgbClr val="1b1f3b"/>
                </a:solidFill>
                <a:latin typeface="Calibri"/>
                <a:ea typeface="Calibri"/>
              </a:rPr>
              <a:t>People process persuasion two ways. The central route means engaging with real substance, like comparing distortion values. The peripheral route means relying on surface signals that take little effort, like a celebrity association. When the central route feels effortful, the peripheral route carries more weight.</a:t>
            </a:r>
            <a:endParaRPr b="0" lang="en-US" sz="1250" spc="-1" strike="noStrike">
              <a:solidFill>
                <a:srgbClr val="000000"/>
              </a:solidFill>
              <a:latin typeface="Arial"/>
            </a:endParaRPr>
          </a:p>
        </p:txBody>
      </p:sp>
      <p:sp>
        <p:nvSpPr>
          <p:cNvPr id="145" name="Shape 13"/>
          <p:cNvSpPr/>
          <p:nvPr/>
        </p:nvSpPr>
        <p:spPr>
          <a:xfrm>
            <a:off x="548640" y="5852160"/>
            <a:ext cx="11246760" cy="566640"/>
          </a:xfrm>
          <a:prstGeom prst="roundRect">
            <a:avLst>
              <a:gd name="adj" fmla="val 16129"/>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6" name="Text 14"/>
          <p:cNvSpPr/>
          <p:nvPr/>
        </p:nvSpPr>
        <p:spPr>
          <a:xfrm>
            <a:off x="685800" y="5852160"/>
            <a:ext cx="1097244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ea typeface="Calibri"/>
              </a:rPr>
              <a:t>Together: distortion is a hard-to-process intrinsic cue, which opens the door for an extrinsic, peripheral cue to carry outsized influence.</a:t>
            </a:r>
            <a:endParaRPr b="0" lang="en-US" sz="1250" spc="-1" strike="noStrike">
              <a:solidFill>
                <a:srgbClr val="000000"/>
              </a:solidFill>
              <a:latin typeface="Arial"/>
            </a:endParaRPr>
          </a:p>
        </p:txBody>
      </p:sp>
      <p:sp>
        <p:nvSpPr>
          <p:cNvPr id="147" name="Text 15"/>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148" name="Text 16"/>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10</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9"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2: DESIGN</a:t>
            </a:r>
            <a:endParaRPr b="0" lang="en-US" sz="1200" spc="-1" strike="noStrike">
              <a:solidFill>
                <a:srgbClr val="000000"/>
              </a:solidFill>
              <a:latin typeface="Arial"/>
            </a:endParaRPr>
          </a:p>
        </p:txBody>
      </p:sp>
      <p:sp>
        <p:nvSpPr>
          <p:cNvPr id="150"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One New Condition, One Key Comparison</a:t>
            </a:r>
            <a:endParaRPr b="0" lang="en-US" sz="3000" spc="-1" strike="noStrike">
              <a:solidFill>
                <a:srgbClr val="000000"/>
              </a:solidFill>
              <a:latin typeface="Arial"/>
            </a:endParaRPr>
          </a:p>
        </p:txBody>
      </p:sp>
      <p:sp>
        <p:nvSpPr>
          <p:cNvPr id="151" name="Text 2"/>
          <p:cNvSpPr/>
          <p:nvPr/>
        </p:nvSpPr>
        <p:spPr>
          <a:xfrm>
            <a:off x="548640" y="1417320"/>
            <a:ext cx="11063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pc="-1" strike="noStrike">
                <a:solidFill>
                  <a:srgbClr val="1b1f3b"/>
                </a:solidFill>
                <a:latin typeface="Calibri"/>
                <a:ea typeface="Calibri"/>
              </a:rPr>
              <a:t>We keep all three replication groups, and add a fourth: the joint-evaluation screen, but with an extrinsic cue (a celebrity association) added to Verve Sound.</a:t>
            </a:r>
            <a:endParaRPr b="0" lang="en-US" sz="1350" spc="-1" strike="noStrike">
              <a:solidFill>
                <a:srgbClr val="000000"/>
              </a:solidFill>
              <a:latin typeface="Arial"/>
            </a:endParaRPr>
          </a:p>
        </p:txBody>
      </p:sp>
      <p:sp>
        <p:nvSpPr>
          <p:cNvPr id="152" name="Shape 3"/>
          <p:cNvSpPr/>
          <p:nvPr/>
        </p:nvSpPr>
        <p:spPr>
          <a:xfrm>
            <a:off x="548640" y="2103120"/>
            <a:ext cx="5348880" cy="3245760"/>
          </a:xfrm>
          <a:prstGeom prst="roundRect">
            <a:avLst>
              <a:gd name="adj" fmla="val 3380"/>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53" name="Text 4"/>
          <p:cNvSpPr/>
          <p:nvPr/>
        </p:nvSpPr>
        <p:spPr>
          <a:xfrm>
            <a:off x="868680" y="2377440"/>
            <a:ext cx="47088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6b7280"/>
                </a:solidFill>
                <a:latin typeface="Calibri"/>
                <a:ea typeface="Calibri"/>
              </a:rPr>
              <a:t>JOINT: BASELINE</a:t>
            </a:r>
            <a:endParaRPr b="0" lang="en-US" sz="1200" spc="-1" strike="noStrike">
              <a:solidFill>
                <a:srgbClr val="000000"/>
              </a:solidFill>
              <a:latin typeface="Arial"/>
            </a:endParaRPr>
          </a:p>
        </p:txBody>
      </p:sp>
      <p:pic>
        <p:nvPicPr>
          <p:cNvPr id="154" name="Image 0" descr="/home/claude/deck/verve_new_trim.png"/>
          <p:cNvPicPr/>
          <p:nvPr/>
        </p:nvPicPr>
        <p:blipFill>
          <a:blip r:embed="rId1"/>
          <a:stretch/>
        </p:blipFill>
        <p:spPr>
          <a:xfrm>
            <a:off x="2053080" y="2788920"/>
            <a:ext cx="2340000" cy="914040"/>
          </a:xfrm>
          <a:prstGeom prst="rect">
            <a:avLst/>
          </a:prstGeom>
          <a:ln w="0">
            <a:noFill/>
          </a:ln>
        </p:spPr>
      </p:pic>
      <p:pic>
        <p:nvPicPr>
          <p:cNvPr id="155" name="Image 1" descr="/home/claude/deck/halcyon_new_trim.png"/>
          <p:cNvPicPr/>
          <p:nvPr/>
        </p:nvPicPr>
        <p:blipFill>
          <a:blip r:embed="rId2"/>
          <a:stretch/>
        </p:blipFill>
        <p:spPr>
          <a:xfrm>
            <a:off x="2090880" y="3794760"/>
            <a:ext cx="2264400" cy="914040"/>
          </a:xfrm>
          <a:prstGeom prst="rect">
            <a:avLst/>
          </a:prstGeom>
          <a:ln w="0">
            <a:noFill/>
          </a:ln>
        </p:spPr>
      </p:pic>
      <p:sp>
        <p:nvSpPr>
          <p:cNvPr id="156" name="Text 5"/>
          <p:cNvSpPr/>
          <p:nvPr/>
        </p:nvSpPr>
        <p:spPr>
          <a:xfrm>
            <a:off x="868680" y="4800600"/>
            <a:ext cx="47088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20000"/>
              </a:lnSpc>
              <a:tabLst>
                <a:tab algn="l" pos="0"/>
              </a:tabLst>
            </a:pPr>
            <a:r>
              <a:rPr b="0" lang="en-US" sz="1200" spc="-1" strike="noStrike">
                <a:solidFill>
                  <a:srgbClr val="1b1f3b"/>
                </a:solidFill>
                <a:latin typeface="Calibri"/>
                <a:ea typeface="Calibri"/>
              </a:rPr>
              <a:t>Both speakers, no cue: our replicated joint-evaluation result (final n = 30)</a:t>
            </a:r>
            <a:endParaRPr b="0" lang="en-US" sz="1200" spc="-1" strike="noStrike">
              <a:solidFill>
                <a:srgbClr val="000000"/>
              </a:solidFill>
              <a:latin typeface="Arial"/>
            </a:endParaRPr>
          </a:p>
        </p:txBody>
      </p:sp>
      <p:sp>
        <p:nvSpPr>
          <p:cNvPr id="157" name="Shape 6"/>
          <p:cNvSpPr/>
          <p:nvPr/>
        </p:nvSpPr>
        <p:spPr>
          <a:xfrm>
            <a:off x="6355080" y="2103120"/>
            <a:ext cx="5348880" cy="3245760"/>
          </a:xfrm>
          <a:prstGeom prst="roundRect">
            <a:avLst>
              <a:gd name="adj" fmla="val 3380"/>
            </a:avLst>
          </a:prstGeom>
          <a:solidFill>
            <a:srgbClr val="fff8e8"/>
          </a:solidFill>
          <a:ln w="19050">
            <a:solidFill>
              <a:srgbClr val="f4b40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58" name="Text 7"/>
          <p:cNvSpPr/>
          <p:nvPr/>
        </p:nvSpPr>
        <p:spPr>
          <a:xfrm>
            <a:off x="6675120" y="2377440"/>
            <a:ext cx="47088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ad7c00"/>
                </a:solidFill>
                <a:latin typeface="Calibri"/>
                <a:ea typeface="Calibri"/>
              </a:rPr>
              <a:t>JOINT + EXTRINSIC CUE  →  KEY TEST</a:t>
            </a:r>
            <a:endParaRPr b="0" lang="en-US" sz="1200" spc="-1" strike="noStrike">
              <a:solidFill>
                <a:srgbClr val="000000"/>
              </a:solidFill>
              <a:latin typeface="Arial"/>
            </a:endParaRPr>
          </a:p>
        </p:txBody>
      </p:sp>
      <p:pic>
        <p:nvPicPr>
          <p:cNvPr id="159" name="Image 2" descr="/home/claude/deck/verve_new_trim.png"/>
          <p:cNvPicPr/>
          <p:nvPr/>
        </p:nvPicPr>
        <p:blipFill>
          <a:blip r:embed="rId3"/>
          <a:stretch/>
        </p:blipFill>
        <p:spPr>
          <a:xfrm>
            <a:off x="7402320" y="2766240"/>
            <a:ext cx="2340000" cy="914040"/>
          </a:xfrm>
          <a:prstGeom prst="rect">
            <a:avLst/>
          </a:prstGeom>
          <a:ln w="0">
            <a:noFill/>
          </a:ln>
        </p:spPr>
      </p:pic>
      <p:pic>
        <p:nvPicPr>
          <p:cNvPr id="160" name="Image 4" descr="/home/claude/deck/halcyon_new_trim.png"/>
          <p:cNvPicPr/>
          <p:nvPr/>
        </p:nvPicPr>
        <p:blipFill>
          <a:blip r:embed="rId4"/>
          <a:stretch/>
        </p:blipFill>
        <p:spPr>
          <a:xfrm>
            <a:off x="7374960" y="3886200"/>
            <a:ext cx="2264400" cy="914040"/>
          </a:xfrm>
          <a:prstGeom prst="rect">
            <a:avLst/>
          </a:prstGeom>
          <a:ln w="0">
            <a:noFill/>
          </a:ln>
        </p:spPr>
      </p:pic>
      <p:sp>
        <p:nvSpPr>
          <p:cNvPr id="161" name="Text 9"/>
          <p:cNvSpPr/>
          <p:nvPr/>
        </p:nvSpPr>
        <p:spPr>
          <a:xfrm>
            <a:off x="6675120" y="4800600"/>
            <a:ext cx="47088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20000"/>
              </a:lnSpc>
              <a:tabLst>
                <a:tab algn="l" pos="0"/>
              </a:tabLst>
            </a:pPr>
            <a:r>
              <a:rPr b="0" lang="en-US" sz="1200" spc="-1" strike="noStrike">
                <a:solidFill>
                  <a:srgbClr val="1b1f3b"/>
                </a:solidFill>
                <a:latin typeface="Calibri"/>
                <a:ea typeface="Calibri"/>
              </a:rPr>
              <a:t>Same comparison, but Verve's card shows Dua Lipa holding the speaker (final n = 27)</a:t>
            </a:r>
            <a:endParaRPr b="0" lang="en-US" sz="1200" spc="-1" strike="noStrike">
              <a:solidFill>
                <a:srgbClr val="000000"/>
              </a:solidFill>
              <a:latin typeface="Arial"/>
            </a:endParaRPr>
          </a:p>
        </p:txBody>
      </p:sp>
      <p:pic>
        <p:nvPicPr>
          <p:cNvPr id="162" name="Image 5" descr="/home/claude/deck/icon_exchange_navy.png"/>
          <p:cNvPicPr/>
          <p:nvPr/>
        </p:nvPicPr>
        <p:blipFill>
          <a:blip r:embed="rId5"/>
          <a:stretch/>
        </p:blipFill>
        <p:spPr>
          <a:xfrm>
            <a:off x="5870520" y="3470040"/>
            <a:ext cx="511560" cy="511560"/>
          </a:xfrm>
          <a:prstGeom prst="rect">
            <a:avLst/>
          </a:prstGeom>
          <a:ln w="0">
            <a:noFill/>
          </a:ln>
        </p:spPr>
      </p:pic>
      <p:sp>
        <p:nvSpPr>
          <p:cNvPr id="163" name="Shape 10"/>
          <p:cNvSpPr/>
          <p:nvPr/>
        </p:nvSpPr>
        <p:spPr>
          <a:xfrm>
            <a:off x="548640" y="5623560"/>
            <a:ext cx="11155320" cy="566640"/>
          </a:xfrm>
          <a:prstGeom prst="roundRect">
            <a:avLst>
              <a:gd name="adj" fmla="val 16129"/>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4" name="Text 11"/>
          <p:cNvSpPr/>
          <p:nvPr/>
        </p:nvSpPr>
        <p:spPr>
          <a:xfrm>
            <a:off x="548640" y="5623560"/>
            <a:ext cx="1115532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ea typeface="Calibri"/>
              </a:rPr>
              <a:t>This single comparison, Joint-baseline versus Joint + Extrinsic Cue, is the entire extension experiment.  Final N: 30 baseline, 27 with cue.</a:t>
            </a:r>
            <a:endParaRPr b="0" lang="en-US" sz="1250" spc="-1" strike="noStrike">
              <a:solidFill>
                <a:srgbClr val="000000"/>
              </a:solidFill>
              <a:latin typeface="Arial"/>
            </a:endParaRPr>
          </a:p>
        </p:txBody>
      </p:sp>
      <p:sp>
        <p:nvSpPr>
          <p:cNvPr id="165" name="Text 12"/>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166" name="Text 13"/>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11</a:t>
            </a:r>
            <a:endParaRPr b="0" lang="en-US" sz="900" spc="-1" strike="noStrike">
              <a:solidFill>
                <a:srgbClr val="000000"/>
              </a:solidFill>
              <a:latin typeface="Arial"/>
            </a:endParaRPr>
          </a:p>
        </p:txBody>
      </p:sp>
      <p:sp>
        <p:nvSpPr>
          <p:cNvPr id="167" name="Picture 26"/>
          <p:cNvSpPr/>
          <p:nvPr/>
        </p:nvSpPr>
        <p:spPr>
          <a:xfrm>
            <a:off x="10173600" y="2588760"/>
            <a:ext cx="1231920" cy="1231920"/>
          </a:xfrm>
          <a:prstGeom prst="flowChartConnector">
            <a:avLst/>
          </a:pr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8" name="Plus Sign 28"/>
          <p:cNvSpPr/>
          <p:nvPr/>
        </p:nvSpPr>
        <p:spPr>
          <a:xfrm>
            <a:off x="9776880" y="3047400"/>
            <a:ext cx="336240" cy="314640"/>
          </a:xfrm>
          <a:prstGeom prst="mathPlus">
            <a:avLst>
              <a:gd name="adj1" fmla="val 23520"/>
            </a:avLst>
          </a:prstGeom>
          <a:solidFill>
            <a:schemeClr val="tx1"/>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29160" bIns="29160" anchor="ctr">
            <a:noAutofit/>
          </a:bodyPr>
          <a:p>
            <a:pPr algn="ctr" defTabSz="914400">
              <a:lnSpc>
                <a:spcPct val="100000"/>
              </a:lnSpc>
            </a:pPr>
            <a:endParaRPr b="0" lang="en-IN"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9"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2: RESULTS</a:t>
            </a:r>
            <a:endParaRPr b="0" lang="en-US" sz="1200" spc="-1" strike="noStrike">
              <a:solidFill>
                <a:srgbClr val="000000"/>
              </a:solidFill>
              <a:latin typeface="Arial"/>
            </a:endParaRPr>
          </a:p>
        </p:txBody>
      </p:sp>
      <p:sp>
        <p:nvSpPr>
          <p:cNvPr id="210"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Hypothesis vs. Actual Result</a:t>
            </a:r>
            <a:endParaRPr b="0" lang="en-US" sz="3000" spc="-1" strike="noStrike">
              <a:solidFill>
                <a:srgbClr val="000000"/>
              </a:solidFill>
              <a:latin typeface="Arial"/>
            </a:endParaRPr>
          </a:p>
        </p:txBody>
      </p:sp>
      <p:graphicFrame>
        <p:nvGraphicFramePr>
          <p:cNvPr id="211" name="Chart 0"/>
          <p:cNvGraphicFramePr/>
          <p:nvPr/>
        </p:nvGraphicFramePr>
        <p:xfrm>
          <a:off x="548640" y="1775520"/>
          <a:ext cx="6674760" cy="3893400"/>
        </p:xfrm>
        <a:graphic>
          <a:graphicData uri="http://schemas.openxmlformats.org/drawingml/2006/chart">
            <c:chart xmlns:c="http://schemas.openxmlformats.org/drawingml/2006/chart" xmlns:r="http://schemas.openxmlformats.org/officeDocument/2006/relationships" r:id="rId1"/>
          </a:graphicData>
        </a:graphic>
      </p:graphicFrame>
      <p:sp>
        <p:nvSpPr>
          <p:cNvPr id="212" name="Text 7"/>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213" name="Text 8"/>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12</a:t>
            </a:r>
            <a:endParaRPr b="0" lang="en-US" sz="900" spc="-1" strike="noStrike">
              <a:solidFill>
                <a:srgbClr val="000000"/>
              </a:solidFill>
              <a:latin typeface="Arial"/>
            </a:endParaRPr>
          </a:p>
        </p:txBody>
      </p:sp>
      <p:sp>
        <p:nvSpPr>
          <p:cNvPr id="214" name="ChartClarityLabel"/>
          <p:cNvSpPr/>
          <p:nvPr/>
        </p:nvSpPr>
        <p:spPr>
          <a:xfrm>
            <a:off x="548640" y="1501200"/>
            <a:ext cx="6674760" cy="25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100" spc="97" strike="noStrike">
                <a:solidFill>
                  <a:srgbClr val="6b7280"/>
                </a:solidFill>
                <a:latin typeface="Calibri"/>
              </a:rPr>
              <a:t>ACTUAL RESULTS, BY PRODUCT</a:t>
            </a:r>
            <a:endParaRPr b="0" lang="en-US" sz="1100" spc="-1" strike="noStrike">
              <a:solidFill>
                <a:srgbClr val="000000"/>
              </a:solidFill>
              <a:latin typeface="Arial"/>
            </a:endParaRPr>
          </a:p>
        </p:txBody>
      </p:sp>
      <p:sp>
        <p:nvSpPr>
          <p:cNvPr id="215" name="TextBox 12"/>
          <p:cNvSpPr/>
          <p:nvPr/>
        </p:nvSpPr>
        <p:spPr>
          <a:xfrm>
            <a:off x="7589520" y="1691640"/>
            <a:ext cx="8226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pc="-1" strike="noStrike">
                <a:solidFill>
                  <a:srgbClr val="f4b400"/>
                </a:solidFill>
                <a:latin typeface="Cambria"/>
              </a:rPr>
              <a:t>H2</a:t>
            </a:r>
            <a:endParaRPr b="0" lang="en-US" sz="1600" spc="-1" strike="noStrike">
              <a:solidFill>
                <a:srgbClr val="000000"/>
              </a:solidFill>
              <a:latin typeface="Arial"/>
            </a:endParaRPr>
          </a:p>
        </p:txBody>
      </p:sp>
      <p:sp>
        <p:nvSpPr>
          <p:cNvPr id="216" name="TextBox 13"/>
          <p:cNvSpPr/>
          <p:nvPr/>
        </p:nvSpPr>
        <p:spPr>
          <a:xfrm>
            <a:off x="7589520" y="2057400"/>
            <a:ext cx="4023000" cy="565560"/>
          </a:xfrm>
          <a:prstGeom prst="rect">
            <a:avLst/>
          </a:prstGeom>
          <a:noFill/>
          <a:ln w="0">
            <a:noFill/>
          </a:ln>
        </p:spPr>
        <p:style>
          <a:lnRef idx="0"/>
          <a:fillRef idx="0"/>
          <a:effectRef idx="0"/>
          <a:fontRef idx="minor"/>
        </p:style>
        <p:txBody>
          <a:bodyPr lIns="90000" rIns="90000" tIns="45000" bIns="45000" anchor="t">
            <a:spAutoFit/>
          </a:bodyPr>
          <a:p>
            <a:pPr defTabSz="914400">
              <a:lnSpc>
                <a:spcPct val="120000"/>
              </a:lnSpc>
            </a:pPr>
            <a:r>
              <a:rPr b="0" lang="en-US" sz="1300" spc="-1" strike="noStrike">
                <a:solidFill>
                  <a:srgbClr val="1b1f3b"/>
                </a:solidFill>
                <a:latin typeface="Calibri"/>
              </a:rPr>
              <a:t>Predicted: As an extrinsic cue, the celebrity association is easy to evaluate alone, no comparison needed.</a:t>
            </a:r>
            <a:endParaRPr b="0" lang="en-US" sz="1300" spc="-1" strike="noStrike">
              <a:solidFill>
                <a:srgbClr val="000000"/>
              </a:solidFill>
              <a:latin typeface="Arial"/>
            </a:endParaRPr>
          </a:p>
        </p:txBody>
      </p:sp>
      <p:sp>
        <p:nvSpPr>
          <p:cNvPr id="217" name="TextBox 14"/>
          <p:cNvSpPr/>
          <p:nvPr/>
        </p:nvSpPr>
        <p:spPr>
          <a:xfrm>
            <a:off x="7589520" y="3154680"/>
            <a:ext cx="4023000" cy="803520"/>
          </a:xfrm>
          <a:prstGeom prst="rect">
            <a:avLst/>
          </a:prstGeom>
          <a:noFill/>
          <a:ln w="0">
            <a:noFill/>
          </a:ln>
        </p:spPr>
        <p:style>
          <a:lnRef idx="0"/>
          <a:fillRef idx="0"/>
          <a:effectRef idx="0"/>
          <a:fontRef idx="minor"/>
        </p:style>
        <p:txBody>
          <a:bodyPr lIns="90000" rIns="90000" tIns="45000" bIns="45000" anchor="t">
            <a:spAutoFit/>
          </a:bodyPr>
          <a:p>
            <a:pPr defTabSz="914400">
              <a:lnSpc>
                <a:spcPct val="120000"/>
              </a:lnSpc>
            </a:pPr>
            <a:r>
              <a:rPr b="0" lang="en-US" sz="1300" spc="-1" strike="noStrike">
                <a:solidFill>
                  <a:srgbClr val="1b1f3b"/>
                </a:solidFill>
                <a:latin typeface="Calibri"/>
              </a:rPr>
              <a:t>Predicted: We expected it to offset Halcyon's newly-visible distortion advantage, pulling preference back to Verve Sound.</a:t>
            </a:r>
            <a:endParaRPr b="0" lang="en-US" sz="1300" spc="-1" strike="noStrike">
              <a:solidFill>
                <a:srgbClr val="000000"/>
              </a:solidFill>
              <a:latin typeface="Arial"/>
            </a:endParaRPr>
          </a:p>
        </p:txBody>
      </p:sp>
      <p:sp>
        <p:nvSpPr>
          <p:cNvPr id="218" name="Rounded Rectangle 15"/>
          <p:cNvSpPr/>
          <p:nvPr/>
        </p:nvSpPr>
        <p:spPr>
          <a:xfrm>
            <a:off x="7589520" y="4526280"/>
            <a:ext cx="4023000" cy="959760"/>
          </a:xfrm>
          <a:prstGeom prst="roundRect">
            <a:avLst>
              <a:gd name="adj" fmla="val 16667"/>
            </a:avLst>
          </a:prstGeom>
          <a:solidFill>
            <a:srgbClr val="f6f7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9" name="TextBox 16"/>
          <p:cNvSpPr/>
          <p:nvPr/>
        </p:nvSpPr>
        <p:spPr>
          <a:xfrm>
            <a:off x="7818120" y="4526280"/>
            <a:ext cx="3565800" cy="966600"/>
          </a:xfrm>
          <a:prstGeom prst="rect">
            <a:avLst/>
          </a:prstGeom>
          <a:noFill/>
          <a:ln w="0">
            <a:noFill/>
          </a:ln>
        </p:spPr>
        <p:style>
          <a:lnRef idx="0"/>
          <a:fillRef idx="0"/>
          <a:effectRef idx="0"/>
          <a:fontRef idx="minor"/>
        </p:style>
        <p:txBody>
          <a:bodyPr lIns="90000" rIns="90000" tIns="45000" bIns="45000" anchor="t">
            <a:spAutoFit/>
          </a:bodyPr>
          <a:p>
            <a:pPr defTabSz="914400">
              <a:lnSpc>
                <a:spcPct val="120000"/>
              </a:lnSpc>
            </a:pPr>
            <a:r>
              <a:rPr b="0" i="1" lang="en-US" sz="1200" spc="-1" strike="noStrike">
                <a:solidFill>
                  <a:srgbClr val="1b1f3b"/>
                </a:solidFill>
                <a:latin typeface="Calibri"/>
              </a:rPr>
              <a:t>Actual: Verve $89.53 → $104.96 (p = .139). Halcyon $84.59 → $100.33 (p = .055): both rose. Key test, the Verve − Halcyon gap: $6.31 → $4.63, t = 0.14, p = .890. H2 not supported.</a:t>
            </a:r>
            <a:endParaRPr b="0" lang="en-US" sz="1200" spc="-1" strike="noStrike">
              <a:solidFill>
                <a:srgbClr val="000000"/>
              </a:solidFill>
              <a:latin typeface="Arial"/>
            </a:endParaRPr>
          </a:p>
        </p:txBody>
      </p:sp>
      <p:sp>
        <p:nvSpPr>
          <p:cNvPr id="220" name="ExclusionNote"/>
          <p:cNvSpPr txBox="1"/>
          <p:nvPr/>
        </p:nvSpPr>
        <p:spPr>
          <a:xfrm>
            <a:off x="548640" y="5760000"/>
            <a:ext cx="11063880" cy="260000"/>
          </a:xfrm>
          <a:prstGeom prst="rect">
            <a:avLst/>
          </a:prstGeom>
          <a:noFill/>
        </p:spPr>
        <p:txBody>
          <a:bodyPr wrap="square">
            <a:spAutoFit/>
          </a:bodyPr>
          <a:lstStyle/>
          <a:p>
            <a:r>
              <a:rPr sz="1050" i="1">
                <a:solidFill>
                  <a:srgbClr val="6B7280"/>
                </a:solidFill>
                <a:latin typeface="Calibri"/>
              </a:rPr>
              <a:t>Note: the no-cue Halcyon mean excludes one $40 response below the $50 to $200 range (n = 29). Celebrity-cue condition n = 27.</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0a8cc"/>
                </a:solidFill>
                <a:latin typeface="Calibri"/>
                <a:ea typeface="Calibri"/>
              </a:rPr>
              <a:t>STUDY 2: WHY H2 WASN'T SUPPORTED</a:t>
            </a:r>
            <a:endParaRPr b="0" lang="en-US" sz="1200" spc="-1" strike="noStrike">
              <a:solidFill>
                <a:srgbClr val="000000"/>
              </a:solidFill>
              <a:latin typeface="Arial"/>
            </a:endParaRPr>
          </a:p>
        </p:txBody>
      </p:sp>
      <p:sp>
        <p:nvSpPr>
          <p:cNvPr id="228"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b1f3b"/>
                </a:solidFill>
                <a:latin typeface="Cambria"/>
                <a:ea typeface="Cambria"/>
              </a:rPr>
              <a:t>Six Likely Reasons</a:t>
            </a:r>
            <a:endParaRPr b="0" lang="en-US" sz="3000" spc="-1" strike="noStrike">
              <a:solidFill>
                <a:srgbClr val="000000"/>
              </a:solidFill>
              <a:latin typeface="Arial"/>
            </a:endParaRPr>
          </a:p>
        </p:txBody>
      </p:sp>
      <p:sp>
        <p:nvSpPr>
          <p:cNvPr id="229" name="Text 2"/>
          <p:cNvSpPr/>
          <p:nvPr/>
        </p:nvSpPr>
        <p:spPr>
          <a:xfrm>
            <a:off x="548640" y="1463040"/>
            <a:ext cx="110638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pc="-1" strike="noStrike">
                <a:solidFill>
                  <a:srgbClr val="1b1f3b"/>
                </a:solidFill>
                <a:latin typeface="Calibri"/>
                <a:ea typeface="Calibri"/>
              </a:rPr>
              <a:t>The cue was noticed (74% named Dua Lipa), so we looked at what else got in the way.</a:t>
            </a:r>
            <a:endParaRPr b="0" lang="en-US" sz="1350" spc="-1" strike="noStrike">
              <a:solidFill>
                <a:srgbClr val="000000"/>
              </a:solidFill>
              <a:latin typeface="Arial"/>
            </a:endParaRPr>
          </a:p>
        </p:txBody>
      </p:sp>
      <p:sp>
        <p:nvSpPr>
          <p:cNvPr id="230" name="Shape 3"/>
          <p:cNvSpPr/>
          <p:nvPr/>
        </p:nvSpPr>
        <p:spPr>
          <a:xfrm>
            <a:off x="548640" y="206604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1" name="Shape 4"/>
          <p:cNvSpPr/>
          <p:nvPr/>
        </p:nvSpPr>
        <p:spPr>
          <a:xfrm>
            <a:off x="2043720" y="221220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1</a:t>
            </a:r>
            <a:endParaRPr b="0" lang="en-US" sz="2200" spc="-1" strike="noStrike">
              <a:solidFill>
                <a:srgbClr val="ffffff"/>
              </a:solidFill>
              <a:latin typeface="Arial"/>
            </a:endParaRPr>
          </a:p>
        </p:txBody>
      </p:sp>
      <p:sp>
        <p:nvSpPr>
          <p:cNvPr id="232" name="Text 5"/>
          <p:cNvSpPr/>
          <p:nvPr/>
        </p:nvSpPr>
        <p:spPr>
          <a:xfrm>
            <a:off x="731520" y="277920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No Gap to Close</a:t>
            </a:r>
            <a:endParaRPr b="0" lang="en-US" sz="1300" spc="-1" strike="noStrike">
              <a:solidFill>
                <a:srgbClr val="000000"/>
              </a:solidFill>
              <a:latin typeface="Arial"/>
            </a:endParaRPr>
          </a:p>
        </p:txBody>
      </p:sp>
      <p:sp>
        <p:nvSpPr>
          <p:cNvPr id="233" name="Text 6"/>
          <p:cNvSpPr/>
          <p:nvPr/>
        </p:nvSpPr>
        <p:spPr>
          <a:xfrm>
            <a:off x="777240" y="311292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Hsee predicts Halcyon wins when compared, but Verve already led by $6.31 without the cue.</a:t>
            </a:r>
            <a:endParaRPr b="0" lang="en-US" sz="1000" spc="-1" strike="noStrike">
              <a:solidFill>
                <a:srgbClr val="000000"/>
              </a:solidFill>
              <a:latin typeface="Arial"/>
            </a:endParaRPr>
          </a:p>
        </p:txBody>
      </p:sp>
      <p:sp>
        <p:nvSpPr>
          <p:cNvPr id="234" name="Shape 7"/>
          <p:cNvSpPr/>
          <p:nvPr/>
        </p:nvSpPr>
        <p:spPr>
          <a:xfrm>
            <a:off x="4325040" y="206604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5" name="Shape 8"/>
          <p:cNvSpPr/>
          <p:nvPr/>
        </p:nvSpPr>
        <p:spPr>
          <a:xfrm>
            <a:off x="5820120" y="221220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2</a:t>
            </a:r>
            <a:endParaRPr b="0" lang="en-US" sz="2200" spc="-1" strike="noStrike">
              <a:solidFill>
                <a:srgbClr val="ffffff"/>
              </a:solidFill>
              <a:latin typeface="Arial"/>
            </a:endParaRPr>
          </a:p>
        </p:txBody>
      </p:sp>
      <p:sp>
        <p:nvSpPr>
          <p:cNvPr id="236" name="Text 9"/>
          <p:cNvSpPr/>
          <p:nvPr/>
        </p:nvSpPr>
        <p:spPr>
          <a:xfrm>
            <a:off x="4507920" y="277920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Pictures, Not Products</a:t>
            </a:r>
            <a:endParaRPr b="0" lang="en-US" sz="1300" spc="-1" strike="noStrike">
              <a:solidFill>
                <a:srgbClr val="000000"/>
              </a:solidFill>
              <a:latin typeface="Arial"/>
            </a:endParaRPr>
          </a:p>
        </p:txBody>
      </p:sp>
      <p:sp>
        <p:nvSpPr>
          <p:cNvPr id="237" name="Text 10"/>
          <p:cNvSpPr/>
          <p:nvPr/>
        </p:nvSpPr>
        <p:spPr>
          <a:xfrm>
            <a:off x="4553640" y="311292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Respondents saw images and text, not a speaker they could hear or hold, a weak basis for judging value.</a:t>
            </a:r>
            <a:endParaRPr b="0" lang="en-US" sz="1000" spc="-1" strike="noStrike">
              <a:solidFill>
                <a:srgbClr val="000000"/>
              </a:solidFill>
              <a:latin typeface="Arial"/>
            </a:endParaRPr>
          </a:p>
        </p:txBody>
      </p:sp>
      <p:sp>
        <p:nvSpPr>
          <p:cNvPr id="238" name="Shape 11"/>
          <p:cNvSpPr/>
          <p:nvPr/>
        </p:nvSpPr>
        <p:spPr>
          <a:xfrm>
            <a:off x="8101440" y="206604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9" name="Shape 12"/>
          <p:cNvSpPr/>
          <p:nvPr/>
        </p:nvSpPr>
        <p:spPr>
          <a:xfrm>
            <a:off x="9596520" y="221220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3</a:t>
            </a:r>
            <a:endParaRPr b="0" lang="en-US" sz="2200" spc="-1" strike="noStrike">
              <a:solidFill>
                <a:srgbClr val="ffffff"/>
              </a:solidFill>
              <a:latin typeface="Arial"/>
            </a:endParaRPr>
          </a:p>
        </p:txBody>
      </p:sp>
      <p:sp>
        <p:nvSpPr>
          <p:cNvPr id="240" name="Text 13"/>
          <p:cNvSpPr/>
          <p:nvPr/>
        </p:nvSpPr>
        <p:spPr>
          <a:xfrm>
            <a:off x="8284320" y="277920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It Was Clearly a Survey</a:t>
            </a:r>
            <a:endParaRPr b="0" lang="en-US" sz="1300" spc="-1" strike="noStrike">
              <a:solidFill>
                <a:srgbClr val="000000"/>
              </a:solidFill>
              <a:latin typeface="Arial"/>
            </a:endParaRPr>
          </a:p>
        </p:txBody>
      </p:sp>
      <p:sp>
        <p:nvSpPr>
          <p:cNvPr id="241" name="Text 14"/>
          <p:cNvSpPr/>
          <p:nvPr/>
        </p:nvSpPr>
        <p:spPr>
          <a:xfrm>
            <a:off x="8330040" y="311292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Respondents knew it was an academic survey, so prices were hypothetical, not real purchase decisions.</a:t>
            </a:r>
            <a:endParaRPr b="0" lang="en-US" sz="1000" spc="-1" strike="noStrike">
              <a:solidFill>
                <a:srgbClr val="000000"/>
              </a:solidFill>
              <a:latin typeface="Arial"/>
            </a:endParaRPr>
          </a:p>
        </p:txBody>
      </p:sp>
      <p:sp>
        <p:nvSpPr>
          <p:cNvPr id="242" name="Shape 15"/>
          <p:cNvSpPr/>
          <p:nvPr/>
        </p:nvSpPr>
        <p:spPr>
          <a:xfrm>
            <a:off x="548640" y="396036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3" name="Shape 16"/>
          <p:cNvSpPr/>
          <p:nvPr/>
        </p:nvSpPr>
        <p:spPr>
          <a:xfrm>
            <a:off x="2043720" y="410688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4</a:t>
            </a:r>
            <a:endParaRPr b="0" lang="en-US" sz="2200" spc="-1" strike="noStrike">
              <a:solidFill>
                <a:srgbClr val="ffffff"/>
              </a:solidFill>
              <a:latin typeface="Arial"/>
            </a:endParaRPr>
          </a:p>
        </p:txBody>
      </p:sp>
      <p:sp>
        <p:nvSpPr>
          <p:cNvPr id="244" name="Text 17"/>
          <p:cNvSpPr/>
          <p:nvPr/>
        </p:nvSpPr>
        <p:spPr>
          <a:xfrm>
            <a:off x="731520" y="467388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Dollars Mean Different Things</a:t>
            </a:r>
            <a:endParaRPr b="0" lang="en-US" sz="1300" spc="-1" strike="noStrike">
              <a:solidFill>
                <a:srgbClr val="000000"/>
              </a:solidFill>
              <a:latin typeface="Arial"/>
            </a:endParaRPr>
          </a:p>
        </p:txBody>
      </p:sp>
      <p:sp>
        <p:nvSpPr>
          <p:cNvPr id="245" name="Text 18"/>
          <p:cNvSpPr/>
          <p:nvPr/>
        </p:nvSpPr>
        <p:spPr>
          <a:xfrm>
            <a:off x="777240" y="500760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Outside the US, $50 can sound cheap next to 5,000 rupees; unfamiliar currency leads to over- or underpaying.</a:t>
            </a:r>
            <a:endParaRPr b="0" lang="en-US" sz="1000" spc="-1" strike="noStrike">
              <a:solidFill>
                <a:srgbClr val="000000"/>
              </a:solidFill>
              <a:latin typeface="Arial"/>
            </a:endParaRPr>
          </a:p>
        </p:txBody>
      </p:sp>
      <p:sp>
        <p:nvSpPr>
          <p:cNvPr id="246" name="Shape 19"/>
          <p:cNvSpPr/>
          <p:nvPr/>
        </p:nvSpPr>
        <p:spPr>
          <a:xfrm>
            <a:off x="4325040" y="396036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7" name="Shape 20"/>
          <p:cNvSpPr/>
          <p:nvPr/>
        </p:nvSpPr>
        <p:spPr>
          <a:xfrm>
            <a:off x="5820120" y="410688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5</a:t>
            </a:r>
            <a:endParaRPr b="0" lang="en-US" sz="2200" spc="-1" strike="noStrike">
              <a:solidFill>
                <a:srgbClr val="ffffff"/>
              </a:solidFill>
              <a:latin typeface="Arial"/>
            </a:endParaRPr>
          </a:p>
        </p:txBody>
      </p:sp>
      <p:sp>
        <p:nvSpPr>
          <p:cNvPr id="248" name="Text 21"/>
          <p:cNvSpPr/>
          <p:nvPr/>
        </p:nvSpPr>
        <p:spPr>
          <a:xfrm>
            <a:off x="4507920" y="467388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Who Answered Differed</a:t>
            </a:r>
            <a:endParaRPr b="0" lang="en-US" sz="1300" spc="-1" strike="noStrike">
              <a:solidFill>
                <a:srgbClr val="000000"/>
              </a:solidFill>
              <a:latin typeface="Arial"/>
            </a:endParaRPr>
          </a:p>
        </p:txBody>
      </p:sp>
      <p:sp>
        <p:nvSpPr>
          <p:cNvPr id="249" name="Text 22"/>
          <p:cNvSpPr/>
          <p:nvPr/>
        </p:nvSpPr>
        <p:spPr>
          <a:xfrm>
            <a:off x="4553640" y="500760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Form 4 had more respondents from India; much of the shared price lift came from them.</a:t>
            </a:r>
            <a:endParaRPr b="0" lang="en-US" sz="1000" spc="-1" strike="noStrike">
              <a:solidFill>
                <a:srgbClr val="000000"/>
              </a:solidFill>
              <a:latin typeface="Arial"/>
            </a:endParaRPr>
          </a:p>
        </p:txBody>
      </p:sp>
      <p:sp>
        <p:nvSpPr>
          <p:cNvPr id="250" name="Shape 23"/>
          <p:cNvSpPr/>
          <p:nvPr/>
        </p:nvSpPr>
        <p:spPr>
          <a:xfrm>
            <a:off x="8101440" y="3960360"/>
            <a:ext cx="3501720" cy="15084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1" name="Shape 24"/>
          <p:cNvSpPr/>
          <p:nvPr/>
        </p:nvSpPr>
        <p:spPr>
          <a:xfrm>
            <a:off x="9596520" y="4106880"/>
            <a:ext cx="511560" cy="511560"/>
          </a:xfrm>
          <a:prstGeom prst="ellipse">
            <a:avLst/>
          </a:prstGeom>
          <a:solidFill>
            <a:srgbClr val="1b1f3b"/>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2200" spc="-1" strike="noStrike">
                <a:solidFill>
                  <a:srgbClr val="ffffff"/>
                </a:solidFill>
                <a:latin typeface="Cambria"/>
              </a:rPr>
              <a:t>6</a:t>
            </a:r>
            <a:endParaRPr b="0" lang="en-US" sz="2200" spc="-1" strike="noStrike">
              <a:solidFill>
                <a:srgbClr val="ffffff"/>
              </a:solidFill>
              <a:latin typeface="Arial"/>
            </a:endParaRPr>
          </a:p>
        </p:txBody>
      </p:sp>
      <p:sp>
        <p:nvSpPr>
          <p:cNvPr id="252" name="Text 25"/>
          <p:cNvSpPr/>
          <p:nvPr/>
        </p:nvSpPr>
        <p:spPr>
          <a:xfrm>
            <a:off x="8284320" y="4673880"/>
            <a:ext cx="3135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1f3b"/>
                </a:solidFill>
                <a:latin typeface="Calibri"/>
                <a:ea typeface="Calibri"/>
              </a:rPr>
              <a:t>Limited Power</a:t>
            </a:r>
            <a:endParaRPr b="0" lang="en-US" sz="1300" spc="-1" strike="noStrike">
              <a:solidFill>
                <a:srgbClr val="000000"/>
              </a:solidFill>
              <a:latin typeface="Arial"/>
            </a:endParaRPr>
          </a:p>
        </p:txBody>
      </p:sp>
      <p:sp>
        <p:nvSpPr>
          <p:cNvPr id="253" name="Text 26"/>
          <p:cNvSpPr/>
          <p:nvPr/>
        </p:nvSpPr>
        <p:spPr>
          <a:xfrm>
            <a:off x="8330040" y="500760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6b7280"/>
                </a:solidFill>
                <a:latin typeface="Calibri"/>
                <a:ea typeface="Calibri"/>
              </a:rPr>
              <a:t>With a ~$45 spread in the price gap, 56 respondents could not detect small effects.</a:t>
            </a:r>
            <a:endParaRPr b="0" lang="en-US" sz="1000" spc="-1" strike="noStrike">
              <a:solidFill>
                <a:srgbClr val="000000"/>
              </a:solidFill>
              <a:latin typeface="Arial"/>
            </a:endParaRPr>
          </a:p>
        </p:txBody>
      </p:sp>
      <p:sp>
        <p:nvSpPr>
          <p:cNvPr id="254" name="Shape 27"/>
          <p:cNvSpPr/>
          <p:nvPr/>
        </p:nvSpPr>
        <p:spPr>
          <a:xfrm>
            <a:off x="548640" y="5623560"/>
            <a:ext cx="11054880" cy="776880"/>
          </a:xfrm>
          <a:prstGeom prst="roundRect">
            <a:avLst>
              <a:gd name="adj" fmla="val 11765"/>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5" name="Text 28"/>
          <p:cNvSpPr/>
          <p:nvPr/>
        </p:nvSpPr>
        <p:spPr>
          <a:xfrm>
            <a:off x="777240" y="5623560"/>
            <a:ext cx="10597680" cy="776880"/>
          </a:xfrm>
          <a:prstGeom prst="rect">
            <a:avLst/>
          </a:prstGeom>
          <a:noFill/>
          <a:ln w="0">
            <a:noFill/>
          </a:ln>
        </p:spPr>
        <p:style>
          <a:lnRef idx="0"/>
          <a:fillRef idx="0"/>
          <a:effectRef idx="0"/>
          <a:fontRef idx="minor"/>
        </p:style>
        <p:txBody>
          <a:bodyPr lIns="0" rIns="0" tIns="0" bIns="0" anchor="ctr">
            <a:noAutofit/>
          </a:bodyPr>
          <a:p>
            <a:pPr algn="ctr" defTabSz="914400">
              <a:lnSpc>
                <a:spcPct val="120000"/>
              </a:lnSpc>
              <a:tabLst>
                <a:tab algn="l" pos="0"/>
              </a:tabLst>
            </a:pPr>
            <a:r>
              <a:rPr b="1" lang="en-US" sz="1150" spc="-1" strike="noStrike">
                <a:solidFill>
                  <a:srgbClr val="ffffff"/>
                </a:solidFill>
                <a:latin typeface="Calibri"/>
                <a:ea typeface="Calibri"/>
              </a:rPr>
              <a:t>Both prices rose about $15: a category-wide lift, not a Verve-specific gain. Controls and a recall-only check reach the same conclusion.</a:t>
            </a:r>
            <a:endParaRPr b="0" lang="en-US" sz="1150" spc="-1" strike="noStrike">
              <a:solidFill>
                <a:srgbClr val="000000"/>
              </a:solidFill>
              <a:latin typeface="Arial"/>
            </a:endParaRPr>
          </a:p>
        </p:txBody>
      </p:sp>
      <p:sp>
        <p:nvSpPr>
          <p:cNvPr id="256" name="Text 29"/>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257" name="Text 30"/>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13</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TextBox 1"/>
          <p:cNvSpPr/>
          <p:nvPr/>
        </p:nvSpPr>
        <p:spPr>
          <a:xfrm>
            <a:off x="548640" y="365760"/>
            <a:ext cx="914364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200" spc="-1" strike="noStrike">
                <a:solidFill>
                  <a:srgbClr val="00a8cc"/>
                </a:solidFill>
                <a:latin typeface="Calibri"/>
              </a:rPr>
              <a:t>STUDY 2: REAL-WORLD PARALLEL</a:t>
            </a:r>
            <a:endParaRPr b="0" lang="en-US" sz="1200" spc="-1" strike="noStrike">
              <a:solidFill>
                <a:srgbClr val="000000"/>
              </a:solidFill>
              <a:latin typeface="Arial"/>
            </a:endParaRPr>
          </a:p>
        </p:txBody>
      </p:sp>
      <p:sp>
        <p:nvSpPr>
          <p:cNvPr id="259" name="TextBox 2"/>
          <p:cNvSpPr/>
          <p:nvPr/>
        </p:nvSpPr>
        <p:spPr>
          <a:xfrm>
            <a:off x="548640" y="685800"/>
            <a:ext cx="1106388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800" spc="-1" strike="noStrike">
                <a:solidFill>
                  <a:srgbClr val="1b1f3b"/>
                </a:solidFill>
                <a:latin typeface="Cambria"/>
              </a:rPr>
              <a:t>When Culture Outsells Specs</a:t>
            </a:r>
            <a:endParaRPr b="0" lang="en-US" sz="2800" spc="-1" strike="noStrike">
              <a:solidFill>
                <a:srgbClr val="000000"/>
              </a:solidFill>
              <a:latin typeface="Arial"/>
            </a:endParaRPr>
          </a:p>
        </p:txBody>
      </p:sp>
      <p:sp>
        <p:nvSpPr>
          <p:cNvPr id="260" name="TextBox 3"/>
          <p:cNvSpPr/>
          <p:nvPr/>
        </p:nvSpPr>
        <p:spPr>
          <a:xfrm>
            <a:off x="548640" y="1260000"/>
            <a:ext cx="11063880" cy="1987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300" spc="-1" strike="noStrike">
                <a:solidFill>
                  <a:srgbClr val="6b7280"/>
                </a:solidFill>
                <a:latin typeface="Calibri"/>
              </a:rPr>
              <a:t>U.S. headphone brand ownership share, 2024</a:t>
            </a:r>
            <a:endParaRPr b="0" lang="en-US" sz="1300" spc="-1" strike="noStrike">
              <a:solidFill>
                <a:srgbClr val="000000"/>
              </a:solidFill>
              <a:latin typeface="Arial"/>
            </a:endParaRPr>
          </a:p>
        </p:txBody>
      </p:sp>
      <p:sp>
        <p:nvSpPr>
          <p:cNvPr id="261" name="Rounded Rectangle 4"/>
          <p:cNvSpPr/>
          <p:nvPr/>
        </p:nvSpPr>
        <p:spPr>
          <a:xfrm>
            <a:off x="548640" y="1649880"/>
            <a:ext cx="3399480" cy="1749600"/>
          </a:xfrm>
          <a:prstGeom prst="roundRect">
            <a:avLst>
              <a:gd name="adj" fmla="val 6000"/>
            </a:avLst>
          </a:prstGeom>
          <a:solidFill>
            <a:srgbClr val="f6f7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2" name="TextBox 5"/>
          <p:cNvSpPr/>
          <p:nvPr/>
        </p:nvSpPr>
        <p:spPr>
          <a:xfrm>
            <a:off x="548640" y="1869840"/>
            <a:ext cx="3399480" cy="16020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050" spc="-1" strike="noStrike">
                <a:solidFill>
                  <a:srgbClr val="6b7280"/>
                </a:solidFill>
                <a:latin typeface="Calibri"/>
              </a:rPr>
              <a:t>MEASURED LEADER</a:t>
            </a:r>
            <a:endParaRPr b="0" lang="en-US" sz="1050" spc="-1" strike="noStrike">
              <a:solidFill>
                <a:srgbClr val="000000"/>
              </a:solidFill>
              <a:latin typeface="Arial"/>
            </a:endParaRPr>
          </a:p>
        </p:txBody>
      </p:sp>
      <p:sp>
        <p:nvSpPr>
          <p:cNvPr id="263" name="TextBox 6"/>
          <p:cNvSpPr/>
          <p:nvPr/>
        </p:nvSpPr>
        <p:spPr>
          <a:xfrm>
            <a:off x="548640" y="2170080"/>
            <a:ext cx="3399480" cy="670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4400" spc="-1" strike="noStrike">
                <a:solidFill>
                  <a:srgbClr val="1b1f3b"/>
                </a:solidFill>
                <a:latin typeface="Cambria"/>
              </a:rPr>
              <a:t>12.5%</a:t>
            </a:r>
            <a:endParaRPr b="0" lang="en-US" sz="4400" spc="-1" strike="noStrike">
              <a:solidFill>
                <a:srgbClr val="000000"/>
              </a:solidFill>
              <a:latin typeface="Arial"/>
            </a:endParaRPr>
          </a:p>
        </p:txBody>
      </p:sp>
      <p:sp>
        <p:nvSpPr>
          <p:cNvPr id="264" name="TextBox 7"/>
          <p:cNvSpPr/>
          <p:nvPr/>
        </p:nvSpPr>
        <p:spPr>
          <a:xfrm>
            <a:off x="548640" y="2930040"/>
            <a:ext cx="3399480" cy="228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500" spc="-1" strike="noStrike">
                <a:solidFill>
                  <a:srgbClr val="1b1f3b"/>
                </a:solidFill>
                <a:latin typeface="Calibri"/>
              </a:rPr>
              <a:t>BOSE</a:t>
            </a:r>
            <a:endParaRPr b="0" lang="en-US" sz="1500" spc="-1" strike="noStrike">
              <a:solidFill>
                <a:srgbClr val="000000"/>
              </a:solidFill>
              <a:latin typeface="Arial"/>
            </a:endParaRPr>
          </a:p>
        </p:txBody>
      </p:sp>
      <p:sp>
        <p:nvSpPr>
          <p:cNvPr id="265" name="Rounded Rectangle 8"/>
          <p:cNvSpPr/>
          <p:nvPr/>
        </p:nvSpPr>
        <p:spPr>
          <a:xfrm>
            <a:off x="4380840" y="1649880"/>
            <a:ext cx="3399480" cy="1749600"/>
          </a:xfrm>
          <a:prstGeom prst="roundRect">
            <a:avLst>
              <a:gd name="adj" fmla="val 6000"/>
            </a:avLst>
          </a:prstGeom>
          <a:solidFill>
            <a:srgbClr val="f6f7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6" name="TextBox 9"/>
          <p:cNvSpPr/>
          <p:nvPr/>
        </p:nvSpPr>
        <p:spPr>
          <a:xfrm>
            <a:off x="4380840" y="1869840"/>
            <a:ext cx="3399480" cy="16020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050" spc="-1" strike="noStrike">
                <a:solidFill>
                  <a:srgbClr val="6b7280"/>
                </a:solidFill>
                <a:latin typeface="Calibri"/>
              </a:rPr>
              <a:t>MEASURED LEADER</a:t>
            </a:r>
            <a:endParaRPr b="0" lang="en-US" sz="1050" spc="-1" strike="noStrike">
              <a:solidFill>
                <a:srgbClr val="000000"/>
              </a:solidFill>
              <a:latin typeface="Arial"/>
            </a:endParaRPr>
          </a:p>
        </p:txBody>
      </p:sp>
      <p:sp>
        <p:nvSpPr>
          <p:cNvPr id="267" name="TextBox 10"/>
          <p:cNvSpPr/>
          <p:nvPr/>
        </p:nvSpPr>
        <p:spPr>
          <a:xfrm>
            <a:off x="4380840" y="2170080"/>
            <a:ext cx="3399480" cy="670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4400" spc="-1" strike="noStrike">
                <a:solidFill>
                  <a:srgbClr val="1b1f3b"/>
                </a:solidFill>
                <a:latin typeface="Cambria"/>
              </a:rPr>
              <a:t>11.4%</a:t>
            </a:r>
            <a:endParaRPr b="0" lang="en-US" sz="4400" spc="-1" strike="noStrike">
              <a:solidFill>
                <a:srgbClr val="000000"/>
              </a:solidFill>
              <a:latin typeface="Arial"/>
            </a:endParaRPr>
          </a:p>
        </p:txBody>
      </p:sp>
      <p:sp>
        <p:nvSpPr>
          <p:cNvPr id="268" name="TextBox 11"/>
          <p:cNvSpPr/>
          <p:nvPr/>
        </p:nvSpPr>
        <p:spPr>
          <a:xfrm>
            <a:off x="4380840" y="2930040"/>
            <a:ext cx="3399480" cy="228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500" spc="-1" strike="noStrike">
                <a:solidFill>
                  <a:srgbClr val="1b1f3b"/>
                </a:solidFill>
                <a:latin typeface="Calibri"/>
              </a:rPr>
              <a:t>SONY</a:t>
            </a:r>
            <a:endParaRPr b="0" lang="en-US" sz="1500" spc="-1" strike="noStrike">
              <a:solidFill>
                <a:srgbClr val="000000"/>
              </a:solidFill>
              <a:latin typeface="Arial"/>
            </a:endParaRPr>
          </a:p>
        </p:txBody>
      </p:sp>
      <p:sp>
        <p:nvSpPr>
          <p:cNvPr id="269" name="Rounded Rectangle 12"/>
          <p:cNvSpPr/>
          <p:nvPr/>
        </p:nvSpPr>
        <p:spPr>
          <a:xfrm>
            <a:off x="8213040" y="1649880"/>
            <a:ext cx="3399480" cy="1749600"/>
          </a:xfrm>
          <a:prstGeom prst="roundRect">
            <a:avLst>
              <a:gd name="adj" fmla="val 6000"/>
            </a:avLst>
          </a:prstGeom>
          <a:solidFill>
            <a:srgbClr val="fdf3d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0" name="TextBox 13"/>
          <p:cNvSpPr/>
          <p:nvPr/>
        </p:nvSpPr>
        <p:spPr>
          <a:xfrm>
            <a:off x="8213040" y="1869840"/>
            <a:ext cx="3399480" cy="16020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050" spc="-1" strike="noStrike">
                <a:solidFill>
                  <a:srgbClr val="8A5F00"/>
                </a:solidFill>
                <a:latin typeface="Calibri"/>
              </a:rPr>
              <a:t>CULTURE LEADER</a:t>
            </a:r>
            <a:endParaRPr b="0" lang="en-US" sz="1050" spc="-1" strike="noStrike">
              <a:solidFill>
                <a:srgbClr val="000000"/>
              </a:solidFill>
              <a:latin typeface="Arial"/>
            </a:endParaRPr>
          </a:p>
        </p:txBody>
      </p:sp>
      <p:sp>
        <p:nvSpPr>
          <p:cNvPr id="271" name="TextBox 14"/>
          <p:cNvSpPr/>
          <p:nvPr/>
        </p:nvSpPr>
        <p:spPr>
          <a:xfrm>
            <a:off x="8213040" y="2170080"/>
            <a:ext cx="3399480" cy="670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4400" spc="-1" strike="noStrike">
                <a:solidFill>
                  <a:srgbClr val="1B1F3B"/>
                </a:solidFill>
                <a:latin typeface="Cambria"/>
              </a:rPr>
              <a:t>15.3%</a:t>
            </a:r>
            <a:endParaRPr b="0" lang="en-US" sz="4400" spc="-1" strike="noStrike">
              <a:solidFill>
                <a:srgbClr val="000000"/>
              </a:solidFill>
              <a:latin typeface="Arial"/>
            </a:endParaRPr>
          </a:p>
        </p:txBody>
      </p:sp>
      <p:sp>
        <p:nvSpPr>
          <p:cNvPr id="272" name="TextBox 15"/>
          <p:cNvSpPr/>
          <p:nvPr/>
        </p:nvSpPr>
        <p:spPr>
          <a:xfrm>
            <a:off x="8213040" y="2930040"/>
            <a:ext cx="3399480" cy="228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500" spc="-1" strike="noStrike">
                <a:solidFill>
                  <a:srgbClr val="1B1F3B"/>
                </a:solidFill>
                <a:latin typeface="Calibri"/>
              </a:rPr>
              <a:t>BEATS</a:t>
            </a:r>
            <a:endParaRPr b="0" lang="en-US" sz="1500" spc="-1" strike="noStrike">
              <a:solidFill>
                <a:srgbClr val="000000"/>
              </a:solidFill>
              <a:latin typeface="Arial"/>
            </a:endParaRPr>
          </a:p>
        </p:txBody>
      </p:sp>
      <p:sp>
        <p:nvSpPr>
          <p:cNvPr id="273" name="TextBox 16"/>
          <p:cNvSpPr/>
          <p:nvPr/>
        </p:nvSpPr>
        <p:spPr>
          <a:xfrm>
            <a:off x="548640" y="3480120"/>
            <a:ext cx="11063880" cy="168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i="1" lang="en-US" sz="1100" spc="-1" strike="noStrike">
                <a:solidFill>
                  <a:srgbClr val="6b7280"/>
                </a:solidFill>
                <a:latin typeface="Calibri"/>
              </a:rPr>
              <a:t>Sennheiser and other pro-audio brands aren't tracked among leading consumer brands; that category is niche and enthusiast-driven, not mass-market.</a:t>
            </a:r>
            <a:endParaRPr b="0" lang="en-US" sz="1100" spc="-1" strike="noStrike">
              <a:solidFill>
                <a:srgbClr val="000000"/>
              </a:solidFill>
              <a:latin typeface="Arial"/>
            </a:endParaRPr>
          </a:p>
        </p:txBody>
      </p:sp>
      <p:sp>
        <p:nvSpPr>
          <p:cNvPr id="274" name="Rounded Rectangle 17"/>
          <p:cNvSpPr/>
          <p:nvPr/>
        </p:nvSpPr>
        <p:spPr>
          <a:xfrm>
            <a:off x="548640" y="3949920"/>
            <a:ext cx="11063880" cy="619560"/>
          </a:xfrm>
          <a:prstGeom prst="roundRect">
            <a:avLst>
              <a:gd name="adj" fmla="val 18000"/>
            </a:avLst>
          </a:prstGeom>
          <a:solidFill>
            <a:srgbClr val="e6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5" name="TextBox 18"/>
          <p:cNvSpPr/>
          <p:nvPr/>
        </p:nvSpPr>
        <p:spPr>
          <a:xfrm>
            <a:off x="822960" y="4060800"/>
            <a:ext cx="10515240" cy="39744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1300" spc="-1" strike="noStrike">
                <a:solidFill>
                  <a:srgbClr val="1b1f3b"/>
                </a:solidFill>
                <a:latin typeface="Calibri"/>
              </a:rPr>
              <a:t>Same parent, different playbook: Apple owns both. AirPods lean on specs and ecosystem (intrinsic cues); Beats leans on culture and celebrity (extrinsic cues), a deliberate choice, not an accident.</a:t>
            </a:r>
            <a:endParaRPr b="0" lang="en-US" sz="1300" spc="-1" strike="noStrike">
              <a:solidFill>
                <a:srgbClr val="000000"/>
              </a:solidFill>
              <a:latin typeface="Arial"/>
            </a:endParaRPr>
          </a:p>
        </p:txBody>
      </p:sp>
      <p:sp>
        <p:nvSpPr>
          <p:cNvPr id="276" name="Rounded Rectangle 19"/>
          <p:cNvSpPr/>
          <p:nvPr/>
        </p:nvSpPr>
        <p:spPr>
          <a:xfrm>
            <a:off x="548640" y="4719960"/>
            <a:ext cx="11246760" cy="619560"/>
          </a:xfrm>
          <a:prstGeom prst="roundRect">
            <a:avLst>
              <a:gd name="adj" fmla="val 16128"/>
            </a:avLst>
          </a:prstGeom>
          <a:solidFill>
            <a:srgbClr val="1b1f3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7" name="TextBox 20"/>
          <p:cNvSpPr/>
          <p:nvPr/>
        </p:nvSpPr>
        <p:spPr>
          <a:xfrm>
            <a:off x="822960" y="4934160"/>
            <a:ext cx="10696320" cy="19116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1250" spc="-1" strike="noStrike">
                <a:solidFill>
                  <a:srgbClr val="ffffff"/>
                </a:solidFill>
                <a:latin typeface="Calibri"/>
              </a:rPr>
              <a:t>Correlation, not causation: real markets confound price, design, and marketing. Our experiment isolates the cue itself.</a:t>
            </a:r>
            <a:endParaRPr b="0" lang="en-US" sz="1250" spc="-1" strike="noStrike">
              <a:solidFill>
                <a:srgbClr val="000000"/>
              </a:solidFill>
              <a:latin typeface="Arial"/>
            </a:endParaRPr>
          </a:p>
        </p:txBody>
      </p:sp>
      <p:sp>
        <p:nvSpPr>
          <p:cNvPr id="278" name="TextBox 21"/>
          <p:cNvSpPr/>
          <p:nvPr/>
        </p:nvSpPr>
        <p:spPr>
          <a:xfrm>
            <a:off x="548640" y="5479920"/>
            <a:ext cx="1106388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i="1" lang="en-US" sz="1000" spc="-1" strike="noStrike">
                <a:solidFill>
                  <a:srgbClr val="6b7280"/>
                </a:solidFill>
                <a:latin typeface="Calibri"/>
              </a:rPr>
              <a:t>Source: ElectroIQ, “Headphones Statistics 2025” (U.S. consumer ownership data, 2024).</a:t>
            </a:r>
            <a:endParaRPr b="0" lang="en-US" sz="1000" spc="-1" strike="noStrike">
              <a:solidFill>
                <a:srgbClr val="000000"/>
              </a:solidFill>
              <a:latin typeface="Arial"/>
            </a:endParaRPr>
          </a:p>
        </p:txBody>
      </p:sp>
      <p:sp>
        <p:nvSpPr>
          <p:cNvPr id="279" name="TextBox 22"/>
          <p:cNvSpPr/>
          <p:nvPr/>
        </p:nvSpPr>
        <p:spPr>
          <a:xfrm>
            <a:off x="548640" y="6510600"/>
            <a:ext cx="7314840" cy="137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00" spc="-1" strike="noStrike">
                <a:solidFill>
                  <a:srgbClr val="6b7280"/>
                </a:solidFill>
                <a:latin typeface="Calibri"/>
              </a:rPr>
              <a:t>Global Customer Decision Making  •  Group Project Findings</a:t>
            </a:r>
            <a:endParaRPr b="0" lang="en-US" sz="900" spc="-1" strike="noStrike">
              <a:solidFill>
                <a:srgbClr val="000000"/>
              </a:solidFill>
              <a:latin typeface="Arial"/>
            </a:endParaRPr>
          </a:p>
        </p:txBody>
      </p:sp>
      <p:sp>
        <p:nvSpPr>
          <p:cNvPr id="280" name="TextBox 23"/>
          <p:cNvSpPr/>
          <p:nvPr/>
        </p:nvSpPr>
        <p:spPr>
          <a:xfrm>
            <a:off x="11430000" y="6510600"/>
            <a:ext cx="456840" cy="137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00" spc="-1" strike="noStrike">
                <a:solidFill>
                  <a:srgbClr val="6b7280"/>
                </a:solidFill>
                <a:latin typeface="Calibri"/>
              </a:rPr>
              <a:t>14</a:t>
            </a:r>
            <a:endParaRPr b="0" lang="en-US" sz="900" spc="-1" strike="noStrike">
              <a:solidFill>
                <a:srgbClr val="000000"/>
              </a:solidFill>
              <a:latin typeface="Arial"/>
            </a:endParaRPr>
          </a:p>
        </p:txBody>
      </p:sp>
      <p:pic>
        <p:nvPicPr>
          <p:cNvPr id="281" name="Picture 25" descr=""/>
          <p:cNvPicPr/>
          <p:nvPr/>
        </p:nvPicPr>
        <p:blipFill>
          <a:blip r:embed="rId1">
            <a:alphaModFix amt="22000"/>
          </a:blip>
          <a:stretch/>
        </p:blipFill>
        <p:spPr>
          <a:xfrm>
            <a:off x="8333280" y="1613520"/>
            <a:ext cx="3186360" cy="17928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wrap="square">
            <a:noAutofit/>
          </a:bodyPr>
          <a:p>
            <a:pPr defTabSz="914400">
              <a:lnSpc>
                <a:spcPct val="100000"/>
              </a:lnSpc>
              <a:tabLst>
                <a:tab algn="l" pos="0"/>
              </a:tabLst>
            </a:pPr>
            <a:r>
              <a:rPr b="1" lang="en-US" sz="1200" spc="199" strike="noStrike">
                <a:solidFill>
                  <a:srgbClr val="00a8cc"/>
                </a:solidFill>
                <a:latin typeface="Calibri"/>
                <a:ea typeface="Calibri"/>
              </a:rPr>
              <a:t>STUDY 2: MANAGERIAL IMPLICATIONS</a:t>
            </a:r>
            <a:endParaRPr b="0" lang="en-US" sz="1200" spc="-1" strike="noStrike">
              <a:solidFill>
                <a:srgbClr val="000000"/>
              </a:solidFill>
              <a:latin typeface="Arial"/>
            </a:endParaRPr>
          </a:p>
        </p:txBody>
      </p:sp>
      <p:sp>
        <p:nvSpPr>
          <p:cNvPr id="299" name="Text 1"/>
          <p:cNvSpPr/>
          <p:nvPr/>
        </p:nvSpPr>
        <p:spPr>
          <a:xfrm>
            <a:off x="548640" y="658440"/>
            <a:ext cx="11063880" cy="822600"/>
          </a:xfrm>
          <a:prstGeom prst="rect">
            <a:avLst/>
          </a:prstGeom>
          <a:noFill/>
          <a:ln w="0">
            <a:noFill/>
          </a:ln>
        </p:spPr>
        <p:style>
          <a:lnRef idx="0"/>
          <a:fillRef idx="0"/>
          <a:effectRef idx="0"/>
          <a:fontRef idx="minor"/>
        </p:style>
        <p:txBody>
          <a:bodyPr lIns="0" rIns="0" tIns="0" bIns="0" anchor="ctr" wrap="square">
            <a:noAutofit/>
          </a:bodyPr>
          <a:p>
            <a:pPr defTabSz="914400">
              <a:lnSpc>
                <a:spcPct val="100000"/>
              </a:lnSpc>
              <a:tabLst>
                <a:tab algn="l" pos="0"/>
              </a:tabLst>
            </a:pPr>
            <a:r>
              <a:rPr b="1" lang="en-US" sz="3000" spc="-1" strike="noStrike">
                <a:solidFill>
                  <a:srgbClr val="1b1f3b"/>
                </a:solidFill>
                <a:latin typeface="Cambria"/>
                <a:ea typeface="Cambria"/>
              </a:rPr>
              <a:t>If H2 Holds: What Marketers Should Do</a:t>
            </a:r>
            <a:endParaRPr b="0" lang="en-US" sz="3000" spc="-1" strike="noStrike">
              <a:solidFill>
                <a:srgbClr val="000000"/>
              </a:solidFill>
              <a:latin typeface="Arial"/>
            </a:endParaRPr>
          </a:p>
        </p:txBody>
      </p:sp>
      <p:sp>
        <p:nvSpPr>
          <p:cNvPr id="301" name="Shape 3"/>
          <p:cNvSpPr/>
          <p:nvPr/>
        </p:nvSpPr>
        <p:spPr>
          <a:xfrm>
            <a:off x="548640" y="3611880"/>
            <a:ext cx="1691640" cy="16002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2" name="Shape 4"/>
          <p:cNvSpPr/>
          <p:nvPr/>
        </p:nvSpPr>
        <p:spPr>
          <a:xfrm>
            <a:off x="1138428" y="3813048"/>
            <a:ext cx="511560" cy="5115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03" name="Image 0" descr="/home/claude/deck/icon_trophy_gold.png"/>
          <p:cNvPicPr/>
          <p:nvPr/>
        </p:nvPicPr>
        <p:blipFill>
          <a:blip r:embed="rId1"/>
          <a:stretch/>
        </p:blipFill>
        <p:spPr>
          <a:xfrm>
            <a:off x="1205028" y="3879648"/>
            <a:ext cx="378720" cy="378720"/>
          </a:xfrm>
          <a:prstGeom prst="rect">
            <a:avLst/>
          </a:prstGeom>
          <a:ln w="0">
            <a:noFill/>
          </a:ln>
        </p:spPr>
      </p:pic>
      <p:sp>
        <p:nvSpPr>
          <p:cNvPr id="304" name="Text 5"/>
          <p:cNvSpPr/>
          <p:nvPr/>
        </p:nvSpPr>
        <p:spPr>
          <a:xfrm>
            <a:off x="594360" y="4453128"/>
            <a:ext cx="1600200" cy="640080"/>
          </a:xfrm>
          <a:prstGeom prst="rect">
            <a:avLst/>
          </a:prstGeom>
          <a:noFill/>
          <a:ln w="0">
            <a:noFill/>
          </a:ln>
        </p:spPr>
        <p:style>
          <a:lnRef idx="0"/>
          <a:fillRef idx="0"/>
          <a:effectRef idx="0"/>
          <a:fontRef idx="minor"/>
        </p:style>
        <p:txBody>
          <a:bodyPr lIns="0" rIns="0" tIns="0" bIns="0" anchor="ctr" wrap="square">
            <a:noAutofit/>
          </a:bodyPr>
          <a:p>
            <a:pPr algn="ctr" defTabSz="914400">
              <a:lnSpc>
                <a:spcPct val="100000"/>
              </a:lnSpc>
              <a:tabLst>
                <a:tab algn="l" pos="0"/>
              </a:tabLst>
            </a:pPr>
            <a:r>
              <a:rPr b="1" lang="en-US" sz="1200" spc="-1" strike="noStrike">
                <a:solidFill>
                  <a:srgbClr val="1b1f3b"/>
                </a:solidFill>
                <a:latin typeface="Calibri"/>
                <a:ea typeface="Calibri"/>
              </a:rPr>
              <a:t>Awards &amp; Certifications</a:t>
            </a:r>
            <a:endParaRPr b="0" lang="en-US" sz="1300" spc="-1" strike="noStrike">
              <a:solidFill>
                <a:srgbClr val="000000"/>
              </a:solidFill>
              <a:latin typeface="Arial"/>
            </a:endParaRPr>
          </a:p>
        </p:txBody>
      </p:sp>
      <p:sp>
        <p:nvSpPr>
          <p:cNvPr id="306" name="Shape 7"/>
          <p:cNvSpPr/>
          <p:nvPr/>
        </p:nvSpPr>
        <p:spPr>
          <a:xfrm>
            <a:off x="2428646" y="3611880"/>
            <a:ext cx="1691640" cy="16002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7" name="Shape 8"/>
          <p:cNvSpPr/>
          <p:nvPr/>
        </p:nvSpPr>
        <p:spPr>
          <a:xfrm>
            <a:off x="3018434" y="3813048"/>
            <a:ext cx="511560" cy="5115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08" name="Image 1" descr="/home/claude/deck/icon_user_gold.png"/>
          <p:cNvPicPr/>
          <p:nvPr/>
        </p:nvPicPr>
        <p:blipFill>
          <a:blip r:embed="rId2"/>
          <a:stretch/>
        </p:blipFill>
        <p:spPr>
          <a:xfrm>
            <a:off x="3085034" y="3879648"/>
            <a:ext cx="378720" cy="378720"/>
          </a:xfrm>
          <a:prstGeom prst="rect">
            <a:avLst/>
          </a:prstGeom>
          <a:ln w="0">
            <a:noFill/>
          </a:ln>
        </p:spPr>
      </p:pic>
      <p:sp>
        <p:nvSpPr>
          <p:cNvPr id="309" name="Text 9"/>
          <p:cNvSpPr/>
          <p:nvPr/>
        </p:nvSpPr>
        <p:spPr>
          <a:xfrm>
            <a:off x="2474366" y="4453128"/>
            <a:ext cx="1600200" cy="640080"/>
          </a:xfrm>
          <a:prstGeom prst="rect">
            <a:avLst/>
          </a:prstGeom>
          <a:noFill/>
          <a:ln w="0">
            <a:noFill/>
          </a:ln>
        </p:spPr>
        <p:style>
          <a:lnRef idx="0"/>
          <a:fillRef idx="0"/>
          <a:effectRef idx="0"/>
          <a:fontRef idx="minor"/>
        </p:style>
        <p:txBody>
          <a:bodyPr lIns="0" rIns="0" tIns="0" bIns="0" anchor="ctr" wrap="square">
            <a:noAutofit/>
          </a:bodyPr>
          <a:p>
            <a:pPr algn="ctr" defTabSz="914400">
              <a:lnSpc>
                <a:spcPct val="100000"/>
              </a:lnSpc>
              <a:tabLst>
                <a:tab algn="l" pos="0"/>
              </a:tabLst>
            </a:pPr>
            <a:r>
              <a:rPr b="1" lang="en-US" sz="1200" spc="-1" strike="noStrike">
                <a:solidFill>
                  <a:srgbClr val="1b1f3b"/>
                </a:solidFill>
                <a:latin typeface="Calibri"/>
                <a:ea typeface="Calibri"/>
              </a:rPr>
              <a:t>Celebrity Endorsement</a:t>
            </a:r>
            <a:endParaRPr b="0" lang="en-US" sz="1300" spc="-1" strike="noStrike">
              <a:solidFill>
                <a:srgbClr val="000000"/>
              </a:solidFill>
              <a:latin typeface="Arial"/>
            </a:endParaRPr>
          </a:p>
        </p:txBody>
      </p:sp>
      <p:sp>
        <p:nvSpPr>
          <p:cNvPr id="311" name="Shape 11"/>
          <p:cNvSpPr/>
          <p:nvPr/>
        </p:nvSpPr>
        <p:spPr>
          <a:xfrm>
            <a:off x="4308652" y="3611880"/>
            <a:ext cx="1691640" cy="16002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2" name="Shape 12"/>
          <p:cNvSpPr/>
          <p:nvPr/>
        </p:nvSpPr>
        <p:spPr>
          <a:xfrm>
            <a:off x="4898440" y="3813048"/>
            <a:ext cx="511560" cy="5115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13" name="Image 2" descr="/home/claude/deck/icon_clipboardcheck.png"/>
          <p:cNvPicPr/>
          <p:nvPr/>
        </p:nvPicPr>
        <p:blipFill>
          <a:blip r:embed="rId3"/>
          <a:stretch/>
        </p:blipFill>
        <p:spPr>
          <a:xfrm>
            <a:off x="4965040" y="3879648"/>
            <a:ext cx="378720" cy="378720"/>
          </a:xfrm>
          <a:prstGeom prst="rect">
            <a:avLst/>
          </a:prstGeom>
          <a:ln w="0">
            <a:noFill/>
          </a:ln>
        </p:spPr>
      </p:pic>
      <p:sp>
        <p:nvSpPr>
          <p:cNvPr id="314" name="Text 13"/>
          <p:cNvSpPr/>
          <p:nvPr/>
        </p:nvSpPr>
        <p:spPr>
          <a:xfrm>
            <a:off x="4354372" y="4453128"/>
            <a:ext cx="1600200" cy="640080"/>
          </a:xfrm>
          <a:prstGeom prst="rect">
            <a:avLst/>
          </a:prstGeom>
          <a:noFill/>
          <a:ln w="0">
            <a:noFill/>
          </a:ln>
        </p:spPr>
        <p:style>
          <a:lnRef idx="0"/>
          <a:fillRef idx="0"/>
          <a:effectRef idx="0"/>
          <a:fontRef idx="minor"/>
        </p:style>
        <p:txBody>
          <a:bodyPr lIns="0" rIns="0" tIns="0" bIns="0" anchor="ctr" wrap="square">
            <a:noAutofit/>
          </a:bodyPr>
          <a:p>
            <a:pPr algn="ctr" defTabSz="914400">
              <a:lnSpc>
                <a:spcPct val="100000"/>
              </a:lnSpc>
              <a:tabLst>
                <a:tab algn="l" pos="0"/>
              </a:tabLst>
            </a:pPr>
            <a:r>
              <a:rPr b="1" lang="en-US" sz="1200" spc="-1" strike="noStrike">
                <a:solidFill>
                  <a:srgbClr val="1b1f3b"/>
                </a:solidFill>
                <a:latin typeface="Calibri"/>
                <a:ea typeface="Calibri"/>
              </a:rPr>
              <a:t>Expert Recommendation</a:t>
            </a:r>
            <a:endParaRPr b="0" lang="en-US" sz="1300" spc="-1" strike="noStrike">
              <a:solidFill>
                <a:srgbClr val="000000"/>
              </a:solidFill>
              <a:latin typeface="Arial"/>
            </a:endParaRPr>
          </a:p>
        </p:txBody>
      </p:sp>
      <p:sp>
        <p:nvSpPr>
          <p:cNvPr id="316" name="Shape 15"/>
          <p:cNvSpPr/>
          <p:nvPr/>
        </p:nvSpPr>
        <p:spPr>
          <a:xfrm>
            <a:off x="6188659" y="3611880"/>
            <a:ext cx="1691640" cy="16002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7" name="Shape 16"/>
          <p:cNvSpPr/>
          <p:nvPr/>
        </p:nvSpPr>
        <p:spPr>
          <a:xfrm>
            <a:off x="6778447" y="3813048"/>
            <a:ext cx="511560" cy="5115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18" name="Image 3" descr="/home/claude/deck/icon_globe.png"/>
          <p:cNvPicPr/>
          <p:nvPr/>
        </p:nvPicPr>
        <p:blipFill>
          <a:blip r:embed="rId4"/>
          <a:stretch/>
        </p:blipFill>
        <p:spPr>
          <a:xfrm>
            <a:off x="6845047" y="3879648"/>
            <a:ext cx="378720" cy="378720"/>
          </a:xfrm>
          <a:prstGeom prst="rect">
            <a:avLst/>
          </a:prstGeom>
          <a:ln w="0">
            <a:noFill/>
          </a:ln>
        </p:spPr>
      </p:pic>
      <p:sp>
        <p:nvSpPr>
          <p:cNvPr id="319" name="Text 17"/>
          <p:cNvSpPr/>
          <p:nvPr/>
        </p:nvSpPr>
        <p:spPr>
          <a:xfrm>
            <a:off x="6234379" y="4453128"/>
            <a:ext cx="1600200" cy="640080"/>
          </a:xfrm>
          <a:prstGeom prst="rect">
            <a:avLst/>
          </a:prstGeom>
          <a:noFill/>
          <a:ln w="0">
            <a:noFill/>
          </a:ln>
        </p:spPr>
        <p:style>
          <a:lnRef idx="0"/>
          <a:fillRef idx="0"/>
          <a:effectRef idx="0"/>
          <a:fontRef idx="minor"/>
        </p:style>
        <p:txBody>
          <a:bodyPr lIns="0" rIns="0" tIns="0" bIns="0" anchor="ctr" wrap="square">
            <a:noAutofit/>
          </a:bodyPr>
          <a:p>
            <a:pPr algn="ctr" defTabSz="914400">
              <a:lnSpc>
                <a:spcPct val="100000"/>
              </a:lnSpc>
              <a:tabLst>
                <a:tab algn="l" pos="0"/>
              </a:tabLst>
            </a:pPr>
            <a:r>
              <a:rPr b="1" lang="en-US" sz="1200" spc="-1" strike="noStrike">
                <a:solidFill>
                  <a:srgbClr val="1b1f3b"/>
                </a:solidFill>
                <a:latin typeface="Calibri"/>
                <a:ea typeface="Calibri"/>
              </a:rPr>
              <a:t>Country of Origin</a:t>
            </a:r>
            <a:endParaRPr b="0" lang="en-US" sz="1300" spc="-1" strike="noStrike">
              <a:solidFill>
                <a:srgbClr val="000000"/>
              </a:solidFill>
              <a:latin typeface="Arial"/>
            </a:endParaRPr>
          </a:p>
        </p:txBody>
      </p:sp>
      <p:sp>
        <p:nvSpPr>
          <p:cNvPr id="321" name="Shape 19"/>
          <p:cNvSpPr/>
          <p:nvPr/>
        </p:nvSpPr>
        <p:spPr>
          <a:xfrm>
            <a:off x="8068665" y="3611880"/>
            <a:ext cx="1691640" cy="16002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22" name="Shape 20"/>
          <p:cNvSpPr/>
          <p:nvPr/>
        </p:nvSpPr>
        <p:spPr>
          <a:xfrm>
            <a:off x="8658453" y="3813048"/>
            <a:ext cx="511560" cy="5115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23" name="Image 4" descr="/home/claude/deck/icon_shield.png"/>
          <p:cNvPicPr/>
          <p:nvPr/>
        </p:nvPicPr>
        <p:blipFill>
          <a:blip r:embed="rId5"/>
          <a:stretch/>
        </p:blipFill>
        <p:spPr>
          <a:xfrm>
            <a:off x="8725053" y="3879648"/>
            <a:ext cx="378720" cy="378720"/>
          </a:xfrm>
          <a:prstGeom prst="rect">
            <a:avLst/>
          </a:prstGeom>
          <a:ln w="0">
            <a:noFill/>
          </a:ln>
        </p:spPr>
      </p:pic>
      <p:sp>
        <p:nvSpPr>
          <p:cNvPr id="324" name="Text 21"/>
          <p:cNvSpPr/>
          <p:nvPr/>
        </p:nvSpPr>
        <p:spPr>
          <a:xfrm>
            <a:off x="8114385" y="4453128"/>
            <a:ext cx="1600200" cy="640080"/>
          </a:xfrm>
          <a:prstGeom prst="rect">
            <a:avLst/>
          </a:prstGeom>
          <a:noFill/>
          <a:ln w="0">
            <a:noFill/>
          </a:ln>
        </p:spPr>
        <p:style>
          <a:lnRef idx="0"/>
          <a:fillRef idx="0"/>
          <a:effectRef idx="0"/>
          <a:fontRef idx="minor"/>
        </p:style>
        <p:txBody>
          <a:bodyPr lIns="0" rIns="0" tIns="0" bIns="0" anchor="ctr" wrap="square">
            <a:noAutofit/>
          </a:bodyPr>
          <a:p>
            <a:pPr algn="ctr" defTabSz="914400">
              <a:lnSpc>
                <a:spcPct val="100000"/>
              </a:lnSpc>
              <a:tabLst>
                <a:tab algn="l" pos="0"/>
              </a:tabLst>
            </a:pPr>
            <a:r>
              <a:rPr b="1" lang="en-US" sz="1200" spc="-1" strike="noStrike">
                <a:solidFill>
                  <a:srgbClr val="1b1f3b"/>
                </a:solidFill>
                <a:latin typeface="Calibri"/>
                <a:ea typeface="Calibri"/>
              </a:rPr>
              <a:t>Packaging Design</a:t>
            </a:r>
            <a:endParaRPr b="0" lang="en-US" sz="1300" spc="-1" strike="noStrike">
              <a:solidFill>
                <a:srgbClr val="000000"/>
              </a:solidFill>
              <a:latin typeface="Arial"/>
            </a:endParaRPr>
          </a:p>
        </p:txBody>
      </p:sp>
      <p:sp>
        <p:nvSpPr>
          <p:cNvPr id="326" name="Shape 23"/>
          <p:cNvSpPr/>
          <p:nvPr/>
        </p:nvSpPr>
        <p:spPr>
          <a:xfrm>
            <a:off x="9948672" y="3611880"/>
            <a:ext cx="1691640" cy="160020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27" name="Shape 24"/>
          <p:cNvSpPr/>
          <p:nvPr/>
        </p:nvSpPr>
        <p:spPr>
          <a:xfrm>
            <a:off x="10538460" y="3813048"/>
            <a:ext cx="511560" cy="511560"/>
          </a:xfrm>
          <a:prstGeom prst="ellipse">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28" name="Image 5" descr="/home/claude/deck/icon_store.png"/>
          <p:cNvPicPr/>
          <p:nvPr/>
        </p:nvPicPr>
        <p:blipFill>
          <a:blip r:embed="rId6"/>
          <a:stretch/>
        </p:blipFill>
        <p:spPr>
          <a:xfrm>
            <a:off x="10605060" y="3879648"/>
            <a:ext cx="378720" cy="378720"/>
          </a:xfrm>
          <a:prstGeom prst="rect">
            <a:avLst/>
          </a:prstGeom>
          <a:ln w="0">
            <a:noFill/>
          </a:ln>
        </p:spPr>
      </p:pic>
      <p:sp>
        <p:nvSpPr>
          <p:cNvPr id="329" name="Text 25"/>
          <p:cNvSpPr/>
          <p:nvPr/>
        </p:nvSpPr>
        <p:spPr>
          <a:xfrm>
            <a:off x="9994392" y="4453128"/>
            <a:ext cx="1600200" cy="640080"/>
          </a:xfrm>
          <a:prstGeom prst="rect">
            <a:avLst/>
          </a:prstGeom>
          <a:noFill/>
          <a:ln w="0">
            <a:noFill/>
          </a:ln>
        </p:spPr>
        <p:style>
          <a:lnRef idx="0"/>
          <a:fillRef idx="0"/>
          <a:effectRef idx="0"/>
          <a:fontRef idx="minor"/>
        </p:style>
        <p:txBody>
          <a:bodyPr lIns="0" rIns="0" tIns="0" bIns="0" anchor="ctr" wrap="square">
            <a:noAutofit/>
          </a:bodyPr>
          <a:p>
            <a:pPr algn="ctr" defTabSz="914400">
              <a:lnSpc>
                <a:spcPct val="100000"/>
              </a:lnSpc>
              <a:tabLst>
                <a:tab algn="l" pos="0"/>
              </a:tabLst>
            </a:pPr>
            <a:r>
              <a:rPr b="1" lang="en-US" sz="1200" spc="-1" strike="noStrike">
                <a:solidFill>
                  <a:srgbClr val="1b1f3b"/>
                </a:solidFill>
                <a:latin typeface="Calibri"/>
                <a:ea typeface="Calibri"/>
              </a:rPr>
              <a:t>Retailer Prestige</a:t>
            </a:r>
            <a:endParaRPr b="0" lang="en-US" sz="1300" spc="-1" strike="noStrike">
              <a:solidFill>
                <a:srgbClr val="000000"/>
              </a:solidFill>
              <a:latin typeface="Arial"/>
            </a:endParaRPr>
          </a:p>
        </p:txBody>
      </p:sp>
      <p:sp>
        <p:nvSpPr>
          <p:cNvPr id="331" name="Shape 27"/>
          <p:cNvSpPr/>
          <p:nvPr/>
        </p:nvSpPr>
        <p:spPr>
          <a:xfrm>
            <a:off x="548640" y="5623560"/>
            <a:ext cx="11054880" cy="776880"/>
          </a:xfrm>
          <a:prstGeom prst="roundRect">
            <a:avLst>
              <a:gd name="adj" fmla="val 11765"/>
            </a:avLst>
          </a:prstGeom>
          <a:solidFill>
            <a:srgbClr val="1b1f3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32" name="Text 28"/>
          <p:cNvSpPr/>
          <p:nvPr/>
        </p:nvSpPr>
        <p:spPr>
          <a:xfrm>
            <a:off x="777240" y="5623560"/>
            <a:ext cx="10597680" cy="776880"/>
          </a:xfrm>
          <a:prstGeom prst="rect">
            <a:avLst/>
          </a:prstGeom>
          <a:noFill/>
          <a:ln w="0">
            <a:noFill/>
          </a:ln>
        </p:spPr>
        <p:style>
          <a:lnRef idx="0"/>
          <a:fillRef idx="0"/>
          <a:effectRef idx="0"/>
          <a:fontRef idx="minor"/>
        </p:style>
        <p:txBody>
          <a:bodyPr lIns="0" rIns="0" tIns="0" bIns="0" anchor="ctr" wrap="square">
            <a:noAutofit/>
          </a:bodyPr>
          <a:p>
            <a:pPr algn="ctr" defTabSz="914400">
              <a:lnSpc>
                <a:spcPct val="120000"/>
              </a:lnSpc>
              <a:tabLst>
                <a:tab algn="l" pos="0"/>
              </a:tabLst>
            </a:pPr>
            <a:r>
              <a:rPr b="1" lang="en-US" sz="1150" spc="-1" strike="noStrike">
                <a:solidFill>
                  <a:srgbClr val="ffffff"/>
                </a:solidFill>
                <a:latin typeface="Calibri"/>
                <a:ea typeface="Calibri"/>
              </a:rPr>
              <a:t>Each cue works through a different mechanism, so each is worth testing wherever a brand must offset a technical disadvantage at the point of comparison.</a:t>
            </a:r>
            <a:endParaRPr b="0" lang="en-US" sz="1150" spc="-1" strike="noStrike">
              <a:solidFill>
                <a:srgbClr val="000000"/>
              </a:solidFill>
              <a:latin typeface="Arial"/>
            </a:endParaRPr>
          </a:p>
        </p:txBody>
      </p:sp>
      <p:sp>
        <p:nvSpPr>
          <p:cNvPr id="333" name="Text 29"/>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b7280"/>
                </a:solidFill>
                <a:latin typeface="Calibri"/>
                <a:ea typeface="Calibri"/>
              </a:rPr>
              <a:t>Global Customer Decision Making  •  Group Project Findings</a:t>
            </a:r>
            <a:endParaRPr b="0" lang="en-US" sz="900" spc="-1" strike="noStrike">
              <a:solidFill>
                <a:srgbClr val="000000"/>
              </a:solidFill>
              <a:latin typeface="Arial"/>
            </a:endParaRPr>
          </a:p>
        </p:txBody>
      </p:sp>
      <p:sp>
        <p:nvSpPr>
          <p:cNvPr id="334" name="Text 30"/>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b7280"/>
                </a:solidFill>
                <a:latin typeface="Calibri"/>
                <a:ea typeface="Calibri"/>
              </a:rPr>
              <a:t>15</a:t>
            </a:r>
            <a:endParaRPr b="0" lang="en-US" sz="900" spc="-1" strike="noStrike">
              <a:solidFill>
                <a:srgbClr val="000000"/>
              </a:solidFill>
              <a:latin typeface="Arial"/>
            </a:endParaRPr>
          </a:p>
        </p:txBody>
      </p:sp>
      <p:sp>
        <p:nvSpPr>
          <p:cNvPr id="301" name="Shape 3"/>
          <p:cNvSpPr/>
          <p:nvPr/>
        </p:nvSpPr>
        <p:spPr>
          <a:xfrm>
            <a:off x="548640" y="1463040"/>
            <a:ext cx="5440680" cy="146304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6" name="Text 3"/>
          <p:cNvSpPr/>
          <p:nvPr/>
        </p:nvSpPr>
        <p:spPr>
          <a:xfrm>
            <a:off x="777240" y="1572768"/>
            <a:ext cx="4983480" cy="365760"/>
          </a:xfrm>
          <a:prstGeom prst="rect">
            <a:avLst/>
          </a:prstGeom>
          <a:noFill/>
          <a:ln w="0">
            <a:noFill/>
          </a:ln>
        </p:spPr>
        <p:style>
          <a:lnRef idx="0"/>
          <a:fillRef idx="0"/>
          <a:effectRef idx="0"/>
          <a:fontRef idx="minor"/>
        </p:style>
        <p:txBody>
          <a:bodyPr lIns="0" rIns="0" tIns="0" bIns="0" anchor="ctr" wrap="square">
            <a:noAutofit/>
          </a:bodyPr>
          <a:p>
            <a:pPr defTabSz="914400" algn="l">
              <a:lnSpc>
                <a:spcPct val="100000"/>
              </a:lnSpc>
              <a:tabLst>
                <a:tab algn="l" pos="0"/>
              </a:tabLst>
            </a:pPr>
            <a:r>
              <a:rPr b="1" lang="en-US" sz="1500" spc="-1" strike="noStrike">
                <a:solidFill>
                  <a:srgbClr val="1b1f3b"/>
                </a:solidFill>
                <a:latin typeface="Calibri"/>
                <a:ea typeface="Calibri"/>
              </a:rPr>
              <a:t>1.  Put the cue where comparison happens</a:t>
            </a:r>
            <a:endParaRPr b="0" lang="en-US" sz="1550" spc="-1" strike="noStrike">
              <a:solidFill>
                <a:srgbClr val="000000"/>
              </a:solidFill>
              <a:latin typeface="Arial"/>
            </a:endParaRPr>
          </a:p>
        </p:txBody>
      </p:sp>
      <p:sp>
        <p:nvSpPr>
          <p:cNvPr id="287" name="Text 4"/>
          <p:cNvSpPr/>
          <p:nvPr/>
        </p:nvSpPr>
        <p:spPr>
          <a:xfrm>
            <a:off x="777240" y="1956816"/>
            <a:ext cx="4983480" cy="868680"/>
          </a:xfrm>
          <a:prstGeom prst="rect">
            <a:avLst/>
          </a:prstGeom>
          <a:noFill/>
          <a:ln w="0">
            <a:noFill/>
          </a:ln>
        </p:spPr>
        <p:style>
          <a:lnRef idx="0"/>
          <a:fillRef idx="0"/>
          <a:effectRef idx="0"/>
          <a:fontRef idx="minor"/>
        </p:style>
        <p:txBody>
          <a:bodyPr lIns="0" rIns="0" tIns="0" bIns="0" anchor="ctr" wrap="square">
            <a:noAutofit/>
          </a:bodyPr>
          <a:p>
            <a:pPr defTabSz="914400" algn="l">
              <a:lnSpc>
                <a:spcPct val="120000"/>
              </a:lnSpc>
              <a:tabLst>
                <a:tab algn="l" pos="0"/>
              </a:tabLst>
            </a:pPr>
            <a:r>
              <a:rPr b="0" lang="en-US" sz="1250" spc="-1" strike="noStrike">
                <a:solidFill>
                  <a:srgbClr val="1b1f3b"/>
                </a:solidFill>
                <a:latin typeface="Calibri"/>
                <a:ea typeface="Calibri"/>
              </a:rPr>
              <a:t>If you trail on a hard spec, place an easy extrinsic cue on comparison charts, shelf talkers and marketplace listings, not only in awareness ads.</a:t>
            </a:r>
            <a:endParaRPr b="0" lang="en-US" sz="1300" spc="-1" strike="noStrike">
              <a:solidFill>
                <a:srgbClr val="000000"/>
              </a:solidFill>
              <a:latin typeface="Arial"/>
            </a:endParaRPr>
          </a:p>
        </p:txBody>
      </p:sp>
      <p:sp>
        <p:nvSpPr>
          <p:cNvPr id="301" name="Shape 3"/>
          <p:cNvSpPr/>
          <p:nvPr/>
        </p:nvSpPr>
        <p:spPr>
          <a:xfrm>
            <a:off x="6199632" y="1463040"/>
            <a:ext cx="5440680" cy="1463040"/>
          </a:xfrm>
          <a:prstGeom prst="roundRect">
            <a:avLst>
              <a:gd name="adj" fmla="val 7273"/>
            </a:avLst>
          </a:prstGeom>
          <a:solidFill>
            <a:srgbClr val="f6f7fa"/>
          </a:solidFill>
          <a:ln w="12700">
            <a:solidFill>
              <a:srgbClr val="e4e7f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6" name="Text 3"/>
          <p:cNvSpPr/>
          <p:nvPr/>
        </p:nvSpPr>
        <p:spPr>
          <a:xfrm>
            <a:off x="6428232" y="1572768"/>
            <a:ext cx="4983480" cy="365760"/>
          </a:xfrm>
          <a:prstGeom prst="rect">
            <a:avLst/>
          </a:prstGeom>
          <a:noFill/>
          <a:ln w="0">
            <a:noFill/>
          </a:ln>
        </p:spPr>
        <p:style>
          <a:lnRef idx="0"/>
          <a:fillRef idx="0"/>
          <a:effectRef idx="0"/>
          <a:fontRef idx="minor"/>
        </p:style>
        <p:txBody>
          <a:bodyPr lIns="0" rIns="0" tIns="0" bIns="0" anchor="ctr" wrap="square">
            <a:noAutofit/>
          </a:bodyPr>
          <a:p>
            <a:pPr defTabSz="914400" algn="l">
              <a:lnSpc>
                <a:spcPct val="100000"/>
              </a:lnSpc>
              <a:tabLst>
                <a:tab algn="l" pos="0"/>
              </a:tabLst>
            </a:pPr>
            <a:r>
              <a:rPr b="1" lang="en-US" sz="1500" spc="-1" strike="noStrike">
                <a:solidFill>
                  <a:srgbClr val="1b1f3b"/>
                </a:solidFill>
                <a:latin typeface="Calibri"/>
                <a:ea typeface="Calibri"/>
              </a:rPr>
              <a:t>2.  Make the cue unmistakably product-specific</a:t>
            </a:r>
            <a:endParaRPr b="0" lang="en-US" sz="1550" spc="-1" strike="noStrike">
              <a:solidFill>
                <a:srgbClr val="000000"/>
              </a:solidFill>
              <a:latin typeface="Arial"/>
            </a:endParaRPr>
          </a:p>
        </p:txBody>
      </p:sp>
      <p:sp>
        <p:nvSpPr>
          <p:cNvPr id="287" name="Text 4"/>
          <p:cNvSpPr/>
          <p:nvPr/>
        </p:nvSpPr>
        <p:spPr>
          <a:xfrm>
            <a:off x="6428232" y="1956816"/>
            <a:ext cx="4983480" cy="868680"/>
          </a:xfrm>
          <a:prstGeom prst="rect">
            <a:avLst/>
          </a:prstGeom>
          <a:noFill/>
          <a:ln w="0">
            <a:noFill/>
          </a:ln>
        </p:spPr>
        <p:style>
          <a:lnRef idx="0"/>
          <a:fillRef idx="0"/>
          <a:effectRef idx="0"/>
          <a:fontRef idx="minor"/>
        </p:style>
        <p:txBody>
          <a:bodyPr lIns="0" rIns="0" tIns="0" bIns="0" anchor="ctr" wrap="square">
            <a:noAutofit/>
          </a:bodyPr>
          <a:p>
            <a:pPr defTabSz="914400" algn="l">
              <a:lnSpc>
                <a:spcPct val="120000"/>
              </a:lnSpc>
              <a:tabLst>
                <a:tab algn="l" pos="0"/>
              </a:tabLst>
            </a:pPr>
            <a:r>
              <a:rPr b="0" lang="en-US" sz="1250" spc="-1" strike="noStrike">
                <a:solidFill>
                  <a:srgbClr val="1b1f3b"/>
                </a:solidFill>
                <a:latin typeface="Calibri"/>
                <a:ea typeface="Calibri"/>
              </a:rPr>
              <a:t>Show the celebrity using the product with a visible brand mark, and judge success by price premium over rivals, not absolute willingness to pay.</a:t>
            </a:r>
            <a:endParaRPr b="0" lang="en-US" sz="1300" spc="-1" strike="noStrike">
              <a:solidFill>
                <a:srgbClr val="000000"/>
              </a:solidFill>
              <a:latin typeface="Arial"/>
            </a:endParaRPr>
          </a:p>
        </p:txBody>
      </p:sp>
      <p:sp>
        <p:nvSpPr>
          <p:cNvPr id="286" name="Text 3"/>
          <p:cNvSpPr/>
          <p:nvPr/>
        </p:nvSpPr>
        <p:spPr>
          <a:xfrm>
            <a:off x="548640" y="3127248"/>
            <a:ext cx="11064240" cy="365760"/>
          </a:xfrm>
          <a:prstGeom prst="rect">
            <a:avLst/>
          </a:prstGeom>
          <a:noFill/>
          <a:ln w="0">
            <a:noFill/>
          </a:ln>
        </p:spPr>
        <p:style>
          <a:lnRef idx="0"/>
          <a:fillRef idx="0"/>
          <a:effectRef idx="0"/>
          <a:fontRef idx="minor"/>
        </p:style>
        <p:txBody>
          <a:bodyPr lIns="0" rIns="0" tIns="0" bIns="0" anchor="ctr" wrap="square">
            <a:noAutofit/>
          </a:bodyPr>
          <a:p>
            <a:pPr defTabSz="914400" algn="l">
              <a:lnSpc>
                <a:spcPct val="100000"/>
              </a:lnSpc>
              <a:tabLst>
                <a:tab algn="l" pos="0"/>
              </a:tabLst>
            </a:pPr>
            <a:r>
              <a:rPr b="1" lang="en-US" sz="1500" spc="-1" strike="noStrike">
                <a:solidFill>
                  <a:srgbClr val="1b1f3b"/>
                </a:solidFill>
                <a:latin typeface="Calibri"/>
                <a:ea typeface="Calibri"/>
              </a:rPr>
              <a:t>3.  Test other extrinsic cues, not only celebrities</a:t>
            </a:r>
            <a:endParaRPr b="0" lang="en-US"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1f3b"/>
        </a:solidFill>
      </p:bgPr>
    </p:bg>
    <p:spTree>
      <p:nvGrpSpPr>
        <p:cNvPr id="1" name=""/>
        <p:cNvGrpSpPr/>
        <p:nvPr/>
      </p:nvGrpSpPr>
      <p:grpSpPr>
        <a:xfrm>
          <a:off x="0" y="0"/>
          <a:ext cx="0" cy="0"/>
          <a:chOff x="0" y="0"/>
          <a:chExt cx="0" cy="0"/>
        </a:xfrm>
      </p:grpSpPr>
      <p:sp>
        <p:nvSpPr>
          <p:cNvPr id="335" name="Text 0"/>
          <p:cNvSpPr/>
          <p:nvPr/>
        </p:nvSpPr>
        <p:spPr>
          <a:xfrm>
            <a:off x="548640" y="3657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f4b400"/>
                </a:solidFill>
                <a:latin typeface="Calibri"/>
                <a:ea typeface="Calibri"/>
              </a:rPr>
              <a:t>CLOSING</a:t>
            </a:r>
            <a:endParaRPr b="0" lang="en-US" sz="1200" spc="-1" strike="noStrike">
              <a:solidFill>
                <a:srgbClr val="ffffff"/>
              </a:solidFill>
              <a:latin typeface="Arial"/>
            </a:endParaRPr>
          </a:p>
        </p:txBody>
      </p:sp>
      <p:sp>
        <p:nvSpPr>
          <p:cNvPr id="336" name="Text 1"/>
          <p:cNvSpPr/>
          <p:nvPr/>
        </p:nvSpPr>
        <p:spPr>
          <a:xfrm>
            <a:off x="548640" y="2331720"/>
            <a:ext cx="11064240" cy="1005840"/>
          </a:xfrm>
          <a:prstGeom prst="rect">
            <a:avLst/>
          </a:prstGeom>
          <a:noFill/>
          <a:ln w="0">
            <a:noFill/>
          </a:ln>
        </p:spPr>
        <p:style>
          <a:lnRef idx="0"/>
          <a:fillRef idx="0"/>
          <a:effectRef idx="0"/>
          <a:fontRef idx="minor"/>
        </p:style>
        <p:txBody>
          <a:bodyPr lIns="0" rIns="0" tIns="0" bIns="0" anchor="ctr">
            <a:noAutofit/>
          </a:bodyPr>
          <a:p>
            <a:pPr defTabSz="914400" algn="ctr">
              <a:lnSpc>
                <a:spcPct val="100000"/>
              </a:lnSpc>
              <a:tabLst>
                <a:tab algn="l" pos="0"/>
              </a:tabLst>
            </a:pPr>
            <a:r>
              <a:rPr b="1" lang="en-US" sz="5400" spc="-1" strike="noStrike">
                <a:solidFill>
                  <a:srgbClr val="ffffff"/>
                </a:solidFill>
                <a:latin typeface="Cambria"/>
                <a:ea typeface="Cambria"/>
              </a:rPr>
              <a:t>Thank You</a:t>
            </a:r>
            <a:endParaRPr b="0" lang="en-US" sz="3000" spc="-1" strike="noStrike">
              <a:solidFill>
                <a:srgbClr val="ffffff"/>
              </a:solidFill>
              <a:latin typeface="Arial"/>
            </a:endParaRPr>
          </a:p>
        </p:txBody>
      </p:sp>
      <p:sp>
        <p:nvSpPr>
          <p:cNvPr id="337" name="Text 21"/>
          <p:cNvSpPr/>
          <p:nvPr/>
        </p:nvSpPr>
        <p:spPr>
          <a:xfrm>
            <a:off x="548640" y="3520440"/>
            <a:ext cx="11063880" cy="640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ffffff"/>
                </a:solidFill>
                <a:latin typeface="Cambria"/>
                <a:ea typeface="Cambria"/>
              </a:rPr>
              <a:t>We are happy to take your questions.</a:t>
            </a:r>
            <a:endParaRPr b="0" lang="en-US" sz="2600" spc="-1" strike="noStrike">
              <a:solidFill>
                <a:srgbClr val="ffffff"/>
              </a:solidFill>
              <a:latin typeface="Arial"/>
            </a:endParaRPr>
          </a:p>
        </p:txBody>
      </p:sp>
      <p:sp>
        <p:nvSpPr>
          <p:cNvPr id="338" name="Text 22"/>
          <p:cNvSpPr/>
          <p:nvPr/>
        </p:nvSpPr>
        <p:spPr>
          <a:xfrm>
            <a:off x="548640" y="65106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0b5"/>
                </a:solidFill>
                <a:latin typeface="Calibri"/>
                <a:ea typeface="Calibri"/>
              </a:rPr>
              <a:t>Global Customer Decision Making  •  Group Project Findings</a:t>
            </a:r>
            <a:endParaRPr b="0" lang="en-US" sz="900" spc="-1" strike="noStrike">
              <a:solidFill>
                <a:srgbClr val="ffffff"/>
              </a:solidFill>
              <a:latin typeface="Arial"/>
            </a:endParaRPr>
          </a:p>
        </p:txBody>
      </p:sp>
      <p:sp>
        <p:nvSpPr>
          <p:cNvPr id="339" name="Text 23"/>
          <p:cNvSpPr/>
          <p:nvPr/>
        </p:nvSpPr>
        <p:spPr>
          <a:xfrm>
            <a:off x="11430000" y="651060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0b5"/>
                </a:solidFill>
                <a:latin typeface="Calibri"/>
                <a:ea typeface="Calibri"/>
              </a:rPr>
              <a:t>16</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76</TotalTime>
  <Application>LibreOffice/24.2.7.2$Linux_X86_64 LibreOffice_project/420$Build-2</Application>
  <AppVersion>15.0000</AppVersion>
  <Words>1838</Words>
  <Paragraphs>208</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2026-09-17T06:20:33Z</dcterms:created>
  <dc:creator>PptxGenJS</dc:creator>
  <dc:description/>
  <dc:language>en-US</dc:language>
  <cp:lastModifiedBy>Sachi Agarwal</cp:lastModifiedBy>
  <dcterms:modified xsi:type="dcterms:W3CDTF">2026-09-21T05:00:42Z</dcterms:modified>
  <cp:revision>3</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14</vt:r8>
  </property>
  <property fmtid="{D5CDD505-2E9C-101B-9397-08002B2CF9AE}" pid="3" name="PresentationFormat">
    <vt:lpwstr>Widescreen</vt:lpwstr>
  </property>
  <property fmtid="{D5CDD505-2E9C-101B-9397-08002B2CF9AE}" pid="4" name="Slides">
    <vt:r8>16</vt:r8>
  </property>
</Properties>
</file>